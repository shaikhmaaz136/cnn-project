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EC776-EC5D-87B6-4A3B-034922B02F12}" v="6" dt="2026-08-01T21:11:28.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az Zahid Shaikh" userId="S::mshaikh48933@ucumberlands.edu::39fbb84d-6497-412c-a4ee-2a374b82477f" providerId="AD" clId="Web-{265EC776-EC5D-87B6-4A3B-034922B02F12}"/>
    <pc:docChg chg="modSld">
      <pc:chgData name="Maaz Zahid Shaikh" userId="S::mshaikh48933@ucumberlands.edu::39fbb84d-6497-412c-a4ee-2a374b82477f" providerId="AD" clId="Web-{265EC776-EC5D-87B6-4A3B-034922B02F12}" dt="2026-08-01T21:11:28.385" v="5" actId="20577"/>
      <pc:docMkLst>
        <pc:docMk/>
      </pc:docMkLst>
      <pc:sldChg chg="modSp">
        <pc:chgData name="Maaz Zahid Shaikh" userId="S::mshaikh48933@ucumberlands.edu::39fbb84d-6497-412c-a4ee-2a374b82477f" providerId="AD" clId="Web-{265EC776-EC5D-87B6-4A3B-034922B02F12}" dt="2026-08-01T21:09:14.756" v="0" actId="20577"/>
        <pc:sldMkLst>
          <pc:docMk/>
          <pc:sldMk cId="0" sldId="258"/>
        </pc:sldMkLst>
        <pc:spChg chg="mod">
          <ac:chgData name="Maaz Zahid Shaikh" userId="S::mshaikh48933@ucumberlands.edu::39fbb84d-6497-412c-a4ee-2a374b82477f" providerId="AD" clId="Web-{265EC776-EC5D-87B6-4A3B-034922B02F12}" dt="2026-08-01T21:09:14.756" v="0" actId="20577"/>
          <ac:spMkLst>
            <pc:docMk/>
            <pc:sldMk cId="0" sldId="258"/>
            <ac:spMk id="4" creationId="{00000000-0000-0000-0000-000000000000}"/>
          </ac:spMkLst>
        </pc:spChg>
      </pc:sldChg>
      <pc:sldChg chg="modSp">
        <pc:chgData name="Maaz Zahid Shaikh" userId="S::mshaikh48933@ucumberlands.edu::39fbb84d-6497-412c-a4ee-2a374b82477f" providerId="AD" clId="Web-{265EC776-EC5D-87B6-4A3B-034922B02F12}" dt="2026-08-01T21:11:28.385" v="5" actId="20577"/>
        <pc:sldMkLst>
          <pc:docMk/>
          <pc:sldMk cId="0" sldId="259"/>
        </pc:sldMkLst>
        <pc:spChg chg="mod">
          <ac:chgData name="Maaz Zahid Shaikh" userId="S::mshaikh48933@ucumberlands.edu::39fbb84d-6497-412c-a4ee-2a374b82477f" providerId="AD" clId="Web-{265EC776-EC5D-87B6-4A3B-034922B02F12}" dt="2026-08-01T21:11:28.385" v="5" actId="20577"/>
          <ac:spMkLst>
            <pc:docMk/>
            <pc:sldMk cId="0"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B814171-D299-4AFF-8C7E-1896E57C0AFD}" type="datetimeFigureOut">
              <a:t>8/1/2026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F365B38-DF2F-415C-A384-F62F2DBEFE96}" type="slidenum">
              <a:t>‹#›</a:t>
            </a:fld>
            <a:endParaRPr lang="en-US"/>
          </a:p>
        </p:txBody>
      </p:sp>
    </p:spTree>
    <p:extLst>
      <p:ext uri="{BB962C8B-B14F-4D97-AF65-F5344CB8AC3E}">
        <p14:creationId xmlns:p14="http://schemas.microsoft.com/office/powerpoint/2010/main" val="3952428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1, on the CNN image-preprocessing pathway. Our question is whether basic image augmentation actually changes how well a CNN classifies. We pre-registered our hypotheses before running the experiment, which turned out to matter a great deal.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augments — it is a default. But the justification assumes you are in a particular situation: that your model is memorising and needs restraining. We had a three-epoch budget and wanted to know whether the default still earns its place there. That turned out to be exactly the right question, because our baseline never reached the situation augmentation is designed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sources did not decorate the report — they changed what we did. Lin is why we did not predict improvement, which felt counterintuitive but followed from the evidence. Alomar is why we rejected the strongest augmentation setting. Ottoni is why we treated intensity as a decision requiring justification. Roberts is why our conclusion is narrower than it could have been.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worth pausing on: 93% of the parameters sit in the fully-connected head. The two convolutional layers hold about 19,000 between them. That is a target for a future architecture change, but not for this experiment — changing the architecture would break the comparison we were assigned.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asks: of everything that really was this class, how much did the model find? Macro gives every class equal weight. The interesting part is what it hides. Our macro recall is 51.4%, but that averages numbers from 0.32 to 0.64 — a spread you cannot see. And recall ignores precision completely. Truck has our best recall and one of our worst precisions, which means the model dumps uncertain images into truck and recall rewards it. One number would have told us truck was our best class. It is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decided the whole project. First, we are not overfitting — validation loss is still going down, so the model has not started memorising. Augmentation had nothing to fix. Second, and this surprised us: five identical models differing only in random initialisation spanned 3.77 percentage points. That is our noise floor, and it is larger than most augmentation effects reported at this scale.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committed our hypotheses to version control before training a single augmented model. That is not ceremony — if we had looked at the result first, any hypothesis we then wrote would have been guaranteed correct and would have carried no information. And we deliberately did not predict that augmentation would improve accuracy, because our own baseline evidence said it should not.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results that look contradictory. Augmentation made accuracy significantly worse — 2.78 points, p equals 0.006, and the confidence interval does not cross zero. But it also significantly reduced the generalization gap, which is what augmentation is supposed to do. The next slide explains why those are not in conflict. One thing to flag now: our effect is smaller than our own noise floor. It reached significance through consistency across ten paired seeds, not through size.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we are most pleased with. A shrinking train-validation gap is normally read as better generalization. Ours shrank because training accuracy collapsed toward validation accuracy — everything got worse, training just got worse faster. The gap is a difference between two numbers and tells you nothing about their level. If we had reported it alone we would have concluded the opposite of the truth. And the damage was not spread evenly: bird recall lost nearly a third of its value.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next step would be "train for more epochs", but ours is sharper and cheaper. We already know which transform in our bundle has a genuine domain invariance — a mirrored car is still a car — and which two might be destroying information at 32 by 32. Eighty seconds of compute would tell us which one is responsible.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a:effectLst/>
      </p:bgPr>
    </p:bg>
    <p:spTree>
      <p:nvGrpSpPr>
        <p:cNvPr id="1" name=""/>
        <p:cNvGrpSpPr/>
        <p:nvPr/>
      </p:nvGrpSpPr>
      <p:grpSpPr>
        <a:xfrm>
          <a:off x="0" y="0"/>
          <a:ext cx="0" cy="0"/>
          <a:chOff x="0" y="0"/>
          <a:chExt cx="0" cy="0"/>
        </a:xfrm>
      </p:grpSpPr>
      <p:sp>
        <p:nvSpPr>
          <p:cNvPr id="2" name="Text 0"/>
          <p:cNvSpPr/>
          <p:nvPr/>
        </p:nvSpPr>
        <p:spPr>
          <a:xfrm>
            <a:off x="566928" y="1371600"/>
            <a:ext cx="7772400" cy="2377440"/>
          </a:xfrm>
          <a:prstGeom prst="rect">
            <a:avLst/>
          </a:prstGeom>
          <a:noFill/>
          <a:ln/>
        </p:spPr>
        <p:txBody>
          <a:bodyPr wrap="square" lIns="0" tIns="0" rIns="0" bIns="0" rtlCol="0" anchor="ctr"/>
          <a:lstStyle/>
          <a:p>
            <a:pPr marL="0" indent="0">
              <a:lnSpc>
                <a:spcPts val="4600"/>
              </a:lnSpc>
              <a:buNone/>
            </a:pPr>
            <a:r>
              <a:rPr lang="en-US" sz="3700" b="1" dirty="0">
                <a:solidFill>
                  <a:srgbClr val="FFFFFF"/>
                </a:solidFill>
                <a:latin typeface="Cambria" pitchFamily="34" charset="0"/>
                <a:ea typeface="Cambria" pitchFamily="34" charset="-122"/>
                <a:cs typeface="Cambria" pitchFamily="34" charset="-120"/>
              </a:rPr>
              <a:t>Does basic image augmentation</a:t>
            </a:r>
            <a:endParaRPr lang="en-US" sz="3700" dirty="0"/>
          </a:p>
          <a:p>
            <a:pPr marL="0" indent="0">
              <a:lnSpc>
                <a:spcPts val="4600"/>
              </a:lnSpc>
              <a:buNone/>
            </a:pPr>
            <a:r>
              <a:rPr lang="en-US" sz="3700" b="1" dirty="0">
                <a:solidFill>
                  <a:srgbClr val="FFFFFF"/>
                </a:solidFill>
                <a:latin typeface="Cambria" pitchFamily="34" charset="0"/>
                <a:ea typeface="Cambria" pitchFamily="34" charset="-122"/>
                <a:cs typeface="Cambria" pitchFamily="34" charset="-120"/>
              </a:rPr>
              <a:t>change CNN classification</a:t>
            </a:r>
            <a:endParaRPr lang="en-US" sz="3700" dirty="0"/>
          </a:p>
          <a:p>
            <a:pPr marL="0" indent="0">
              <a:lnSpc>
                <a:spcPts val="4600"/>
              </a:lnSpc>
              <a:buNone/>
            </a:pPr>
            <a:r>
              <a:rPr lang="en-US" sz="3700" b="1" dirty="0">
                <a:solidFill>
                  <a:srgbClr val="FFFFFF"/>
                </a:solidFill>
                <a:latin typeface="Cambria" pitchFamily="34" charset="0"/>
                <a:ea typeface="Cambria" pitchFamily="34" charset="-122"/>
                <a:cs typeface="Cambria" pitchFamily="34" charset="-120"/>
              </a:rPr>
              <a:t>performance?</a:t>
            </a:r>
            <a:endParaRPr lang="en-US" sz="3700" dirty="0"/>
          </a:p>
        </p:txBody>
      </p:sp>
      <p:sp>
        <p:nvSpPr>
          <p:cNvPr id="3" name="Text 1"/>
          <p:cNvSpPr/>
          <p:nvPr/>
        </p:nvSpPr>
        <p:spPr>
          <a:xfrm>
            <a:off x="566928" y="3913632"/>
            <a:ext cx="7772400" cy="365760"/>
          </a:xfrm>
          <a:prstGeom prst="rect">
            <a:avLst/>
          </a:prstGeom>
          <a:noFill/>
          <a:ln/>
        </p:spPr>
        <p:txBody>
          <a:bodyPr wrap="square" lIns="0" tIns="0" rIns="0" bIns="0" rtlCol="0" anchor="ctr"/>
          <a:lstStyle/>
          <a:p>
            <a:pPr marL="0" indent="0">
              <a:buNone/>
            </a:pPr>
            <a:r>
              <a:rPr lang="en-US" sz="1600" i="1" dirty="0">
                <a:solidFill>
                  <a:srgbClr val="A9BAC4"/>
                </a:solidFill>
                <a:latin typeface="Calibri" pitchFamily="34" charset="0"/>
                <a:ea typeface="Calibri" pitchFamily="34" charset="-122"/>
                <a:cs typeface="Calibri" pitchFamily="34" charset="-120"/>
              </a:rPr>
              <a:t>A pre-registered paired comparison on a CIFAR-10 subset</a:t>
            </a:r>
            <a:endParaRPr lang="en-US" sz="1600" dirty="0"/>
          </a:p>
        </p:txBody>
      </p:sp>
      <p:sp>
        <p:nvSpPr>
          <p:cNvPr id="4" name="Text 2"/>
          <p:cNvSpPr/>
          <p:nvPr/>
        </p:nvSpPr>
        <p:spPr>
          <a:xfrm>
            <a:off x="566928" y="4828032"/>
            <a:ext cx="7772400" cy="292608"/>
          </a:xfrm>
          <a:prstGeom prst="rect">
            <a:avLst/>
          </a:prstGeom>
          <a:noFill/>
          <a:ln/>
        </p:spPr>
        <p:txBody>
          <a:bodyPr wrap="square" lIns="0" tIns="0" rIns="0" bIns="0" rtlCol="0" anchor="ctr"/>
          <a:lstStyle/>
          <a:p>
            <a:pPr marL="0" indent="0">
              <a:buNone/>
            </a:pPr>
            <a:r>
              <a:rPr lang="en-US" sz="1300" dirty="0">
                <a:solidFill>
                  <a:srgbClr val="D3DEE4"/>
                </a:solidFill>
                <a:latin typeface="Calibri" pitchFamily="34" charset="0"/>
                <a:ea typeface="Calibri" pitchFamily="34" charset="-122"/>
                <a:cs typeface="Calibri" pitchFamily="34" charset="-120"/>
              </a:rPr>
              <a:t>Group 1  ·  CNN pathway: Image Preprocessing</a:t>
            </a:r>
            <a:endParaRPr lang="en-US" sz="1300" dirty="0"/>
          </a:p>
        </p:txBody>
      </p:sp>
      <p:sp>
        <p:nvSpPr>
          <p:cNvPr id="5" name="Text 3"/>
          <p:cNvSpPr/>
          <p:nvPr/>
        </p:nvSpPr>
        <p:spPr>
          <a:xfrm>
            <a:off x="566928" y="5157216"/>
            <a:ext cx="7772400" cy="292608"/>
          </a:xfrm>
          <a:prstGeom prst="rect">
            <a:avLst/>
          </a:prstGeom>
          <a:noFill/>
          <a:ln/>
        </p:spPr>
        <p:txBody>
          <a:bodyPr wrap="square" lIns="0" tIns="0" rIns="0" bIns="0" rtlCol="0" anchor="ctr"/>
          <a:lstStyle/>
          <a:p>
            <a:pPr marL="0" indent="0">
              <a:buNone/>
            </a:pPr>
            <a:r>
              <a:rPr lang="en-US" sz="1300" dirty="0">
                <a:solidFill>
                  <a:srgbClr val="6B7A83"/>
                </a:solidFill>
                <a:latin typeface="Calibri" pitchFamily="34" charset="0"/>
                <a:ea typeface="Calibri" pitchFamily="34" charset="-122"/>
                <a:cs typeface="Calibri" pitchFamily="34" charset="-120"/>
              </a:rPr>
              <a:t>Statistics for AI Residency  ·  August 2026</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549640" y="1371600"/>
          <a:ext cx="3044952" cy="1810512"/>
        </p:xfrm>
        <a:graphic>
          <a:graphicData uri="http://schemas.openxmlformats.org/drawingml/2006/table">
            <a:tbl>
              <a:tblPr/>
              <a:tblGrid>
                <a:gridCol w="1298448">
                  <a:extLst>
                    <a:ext uri="{9D8B030D-6E8A-4147-A177-3AD203B41FA5}">
                      <a16:colId xmlns:a16="http://schemas.microsoft.com/office/drawing/2014/main" val="20000"/>
                    </a:ext>
                  </a:extLst>
                </a:gridCol>
                <a:gridCol w="1746504">
                  <a:extLst>
                    <a:ext uri="{9D8B030D-6E8A-4147-A177-3AD203B41FA5}">
                      <a16:colId xmlns:a16="http://schemas.microsoft.com/office/drawing/2014/main" val="20001"/>
                    </a:ext>
                  </a:extLst>
                </a:gridCol>
              </a:tblGrid>
              <a:tr h="603504">
                <a:tc>
                  <a:txBody>
                    <a:bodyPr/>
                    <a:lstStyle/>
                    <a:p>
                      <a:pPr marL="0" indent="0">
                        <a:buNone/>
                      </a:pPr>
                      <a:r>
                        <a:rPr lang="en-US" sz="1050" b="1" dirty="0">
                          <a:solidFill>
                            <a:srgbClr val="E3EBEF"/>
                          </a:solidFill>
                          <a:latin typeface="Calibri" pitchFamily="34" charset="0"/>
                          <a:ea typeface="Calibri" pitchFamily="34" charset="-122"/>
                          <a:cs typeface="Calibri" pitchFamily="34" charset="-120"/>
                        </a:rPr>
                        <a:t>Maaz Shaikh</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tc>
                  <a:txBody>
                    <a:bodyPr/>
                    <a:lstStyle/>
                    <a:p>
                      <a:pPr marL="0" indent="0">
                        <a:buNone/>
                      </a:pPr>
                      <a:r>
                        <a:rPr lang="en-US" sz="1050" dirty="0">
                          <a:solidFill>
                            <a:srgbClr val="E3EBEF"/>
                          </a:solidFill>
                          <a:latin typeface="Calibri" pitchFamily="34" charset="0"/>
                          <a:ea typeface="Calibri" pitchFamily="34" charset="-122"/>
                          <a:cs typeface="Calibri" pitchFamily="34" charset="-120"/>
                        </a:rPr>
                        <a:t>Research and question lead</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extLst>
                  <a:ext uri="{0D108BD9-81ED-4DB2-BD59-A6C34878D82A}">
                    <a16:rowId xmlns:a16="http://schemas.microsoft.com/office/drawing/2014/main" val="10000"/>
                  </a:ext>
                </a:extLst>
              </a:tr>
              <a:tr h="603504">
                <a:tc>
                  <a:txBody>
                    <a:bodyPr/>
                    <a:lstStyle/>
                    <a:p>
                      <a:pPr marL="0" indent="0">
                        <a:buNone/>
                      </a:pPr>
                      <a:r>
                        <a:rPr lang="en-US" sz="1050" b="1" dirty="0">
                          <a:solidFill>
                            <a:srgbClr val="E3EBEF"/>
                          </a:solidFill>
                          <a:latin typeface="Calibri" pitchFamily="34" charset="0"/>
                          <a:ea typeface="Calibri" pitchFamily="34" charset="-122"/>
                          <a:cs typeface="Calibri" pitchFamily="34" charset="-120"/>
                        </a:rPr>
                        <a:t>Sankeerth Reddy</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tc>
                  <a:txBody>
                    <a:bodyPr/>
                    <a:lstStyle/>
                    <a:p>
                      <a:pPr marL="0" indent="0">
                        <a:buNone/>
                      </a:pPr>
                      <a:r>
                        <a:rPr lang="en-US" sz="1050" dirty="0">
                          <a:solidFill>
                            <a:srgbClr val="E3EBEF"/>
                          </a:solidFill>
                          <a:latin typeface="Calibri" pitchFamily="34" charset="0"/>
                          <a:ea typeface="Calibri" pitchFamily="34" charset="-122"/>
                          <a:cs typeface="Calibri" pitchFamily="34" charset="-120"/>
                        </a:rPr>
                        <a:t>Analysis lead</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extLst>
                  <a:ext uri="{0D108BD9-81ED-4DB2-BD59-A6C34878D82A}">
                    <a16:rowId xmlns:a16="http://schemas.microsoft.com/office/drawing/2014/main" val="10001"/>
                  </a:ext>
                </a:extLst>
              </a:tr>
              <a:tr h="603504">
                <a:tc>
                  <a:txBody>
                    <a:bodyPr/>
                    <a:lstStyle/>
                    <a:p>
                      <a:pPr marL="0" indent="0">
                        <a:buNone/>
                      </a:pPr>
                      <a:r>
                        <a:rPr lang="en-US" sz="1050" b="1" dirty="0">
                          <a:solidFill>
                            <a:srgbClr val="E3EBEF"/>
                          </a:solidFill>
                          <a:latin typeface="Calibri" pitchFamily="34" charset="0"/>
                          <a:ea typeface="Calibri" pitchFamily="34" charset="-122"/>
                          <a:cs typeface="Calibri" pitchFamily="34" charset="-120"/>
                        </a:rPr>
                        <a:t>Aditi Patel</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tc>
                  <a:txBody>
                    <a:bodyPr/>
                    <a:lstStyle/>
                    <a:p>
                      <a:pPr marL="0" indent="0">
                        <a:buNone/>
                      </a:pPr>
                      <a:r>
                        <a:rPr lang="en-US" sz="1050" dirty="0">
                          <a:solidFill>
                            <a:srgbClr val="E3EBEF"/>
                          </a:solidFill>
                          <a:latin typeface="Calibri" pitchFamily="34" charset="0"/>
                          <a:ea typeface="Calibri" pitchFamily="34" charset="-122"/>
                          <a:cs typeface="Calibri" pitchFamily="34" charset="-120"/>
                        </a:rPr>
                        <a:t>Evidence and presentation lead</a:t>
                      </a:r>
                      <a:endParaRPr lang="en-US" sz="10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0323D"/>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The Problem, and our Question</a:t>
            </a:r>
            <a:endParaRPr lang="en-US" sz="2900" dirty="0"/>
          </a:p>
        </p:txBody>
      </p:sp>
      <p:sp>
        <p:nvSpPr>
          <p:cNvPr id="5" name="Text 3"/>
          <p:cNvSpPr/>
          <p:nvPr/>
        </p:nvSpPr>
        <p:spPr>
          <a:xfrm>
            <a:off x="566928" y="1261872"/>
            <a:ext cx="5943600" cy="228600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16232B"/>
                </a:solidFill>
                <a:latin typeface="Calibri" pitchFamily="34" charset="0"/>
                <a:ea typeface="Calibri" pitchFamily="34" charset="-122"/>
                <a:cs typeface="Calibri" pitchFamily="34" charset="-120"/>
              </a:rPr>
              <a:t>Augmentation is applied as a default in image classification.</a:t>
            </a:r>
            <a:endParaRPr lang="en-US" sz="1600" dirty="0"/>
          </a:p>
          <a:p>
            <a:pPr marL="342900" indent="-342900">
              <a:spcAft>
                <a:spcPts val="1400"/>
              </a:spcAft>
              <a:buSzPct val="100000"/>
              <a:buChar char="•"/>
            </a:pPr>
            <a:r>
              <a:rPr lang="en-US" sz="1600" dirty="0">
                <a:solidFill>
                  <a:srgbClr val="16232B"/>
                </a:solidFill>
                <a:latin typeface="Calibri" pitchFamily="34" charset="0"/>
                <a:ea typeface="Calibri" pitchFamily="34" charset="-122"/>
                <a:cs typeface="Calibri" pitchFamily="34" charset="-120"/>
              </a:rPr>
              <a:t>Its justification carries an unstated condition: it is a regularizer.</a:t>
            </a:r>
            <a:endParaRPr lang="en-US" sz="1600" dirty="0"/>
          </a:p>
          <a:p>
            <a:pPr marL="342900" indent="-342900">
              <a:spcAft>
                <a:spcPts val="1400"/>
              </a:spcAft>
              <a:buSzPct val="100000"/>
              <a:buChar char="•"/>
            </a:pPr>
            <a:r>
              <a:rPr lang="en-US" sz="1600" dirty="0">
                <a:solidFill>
                  <a:srgbClr val="16232B"/>
                </a:solidFill>
                <a:latin typeface="Calibri" pitchFamily="34" charset="0"/>
                <a:ea typeface="Calibri" pitchFamily="34" charset="-122"/>
                <a:cs typeface="Calibri" pitchFamily="34" charset="-120"/>
              </a:rPr>
              <a:t>Regularization helps a model that is fitting its training data too closely.</a:t>
            </a:r>
            <a:endParaRPr lang="en-US" sz="1600" dirty="0"/>
          </a:p>
          <a:p>
            <a:pPr marL="342900" indent="-342900">
              <a:spcAft>
                <a:spcPts val="1400"/>
              </a:spcAft>
              <a:buSzPct val="100000"/>
              <a:buChar char="•"/>
            </a:pPr>
            <a:r>
              <a:rPr lang="en-US" sz="1600" b="1" dirty="0">
                <a:solidFill>
                  <a:srgbClr val="16232B"/>
                </a:solidFill>
                <a:latin typeface="Calibri" pitchFamily="34" charset="0"/>
                <a:ea typeface="Calibri" pitchFamily="34" charset="-122"/>
                <a:cs typeface="Calibri" pitchFamily="34" charset="-120"/>
              </a:rPr>
              <a:t>Does it help a model that has not fit its data yet?</a:t>
            </a:r>
            <a:endParaRPr lang="en-US" sz="1600" dirty="0"/>
          </a:p>
        </p:txBody>
      </p:sp>
      <p:sp>
        <p:nvSpPr>
          <p:cNvPr id="6" name="Shape 4"/>
          <p:cNvSpPr/>
          <p:nvPr/>
        </p:nvSpPr>
        <p:spPr>
          <a:xfrm>
            <a:off x="6766560" y="1261872"/>
            <a:ext cx="233172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7" name="Text 5"/>
          <p:cNvSpPr/>
          <p:nvPr/>
        </p:nvSpPr>
        <p:spPr>
          <a:xfrm>
            <a:off x="6858000" y="1389888"/>
            <a:ext cx="2148840" cy="758952"/>
          </a:xfrm>
          <a:prstGeom prst="rect">
            <a:avLst/>
          </a:prstGeom>
          <a:noFill/>
          <a:ln/>
        </p:spPr>
        <p:txBody>
          <a:bodyPr wrap="square" lIns="0" tIns="0" rIns="0" bIns="0" rtlCol="0" anchor="ctr"/>
          <a:lstStyle/>
          <a:p>
            <a:pPr marL="0" indent="0" algn="ctr">
              <a:buNone/>
            </a:pPr>
            <a:r>
              <a:rPr lang="en-US" sz="3200" b="1" dirty="0">
                <a:solidFill>
                  <a:srgbClr val="33505E"/>
                </a:solidFill>
                <a:latin typeface="Cambria" pitchFamily="34" charset="0"/>
                <a:ea typeface="Cambria" pitchFamily="34" charset="-122"/>
                <a:cs typeface="Cambria" pitchFamily="34" charset="-120"/>
              </a:rPr>
              <a:t>3 epochs</a:t>
            </a:r>
            <a:endParaRPr lang="en-US" sz="3200" dirty="0"/>
          </a:p>
        </p:txBody>
      </p:sp>
      <p:sp>
        <p:nvSpPr>
          <p:cNvPr id="8" name="Text 6"/>
          <p:cNvSpPr/>
          <p:nvPr/>
        </p:nvSpPr>
        <p:spPr>
          <a:xfrm>
            <a:off x="6876288" y="2148840"/>
            <a:ext cx="211226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training budget</a:t>
            </a:r>
            <a:endParaRPr lang="en-US" sz="1050" dirty="0"/>
          </a:p>
        </p:txBody>
      </p:sp>
      <p:sp>
        <p:nvSpPr>
          <p:cNvPr id="9" name="Shape 7"/>
          <p:cNvSpPr/>
          <p:nvPr/>
        </p:nvSpPr>
        <p:spPr>
          <a:xfrm>
            <a:off x="9262872" y="1261872"/>
            <a:ext cx="233172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0" name="Text 8"/>
          <p:cNvSpPr/>
          <p:nvPr/>
        </p:nvSpPr>
        <p:spPr>
          <a:xfrm>
            <a:off x="9354312" y="1389888"/>
            <a:ext cx="2148840" cy="758952"/>
          </a:xfrm>
          <a:prstGeom prst="rect">
            <a:avLst/>
          </a:prstGeom>
          <a:noFill/>
          <a:ln/>
        </p:spPr>
        <p:txBody>
          <a:bodyPr wrap="square" lIns="0" tIns="0" rIns="0" bIns="0" rtlCol="0" anchor="ctr"/>
          <a:lstStyle/>
          <a:p>
            <a:pPr marL="0" indent="0" algn="ctr">
              <a:buNone/>
            </a:pPr>
            <a:r>
              <a:rPr lang="en-US" sz="3200" b="1" dirty="0">
                <a:solidFill>
                  <a:srgbClr val="33505E"/>
                </a:solidFill>
                <a:latin typeface="Cambria" pitchFamily="34" charset="0"/>
                <a:ea typeface="Cambria" pitchFamily="34" charset="-122"/>
                <a:cs typeface="Cambria" pitchFamily="34" charset="-120"/>
              </a:rPr>
              <a:t>10 seeds</a:t>
            </a:r>
            <a:endParaRPr lang="en-US" sz="3200" dirty="0"/>
          </a:p>
        </p:txBody>
      </p:sp>
      <p:sp>
        <p:nvSpPr>
          <p:cNvPr id="11" name="Text 9"/>
          <p:cNvSpPr/>
          <p:nvPr/>
        </p:nvSpPr>
        <p:spPr>
          <a:xfrm>
            <a:off x="9372600" y="2148840"/>
            <a:ext cx="211226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per condition</a:t>
            </a:r>
            <a:endParaRPr lang="en-US" sz="1050" dirty="0"/>
          </a:p>
        </p:txBody>
      </p:sp>
      <p:sp>
        <p:nvSpPr>
          <p:cNvPr id="12" name="Shape 10"/>
          <p:cNvSpPr/>
          <p:nvPr/>
        </p:nvSpPr>
        <p:spPr>
          <a:xfrm>
            <a:off x="566928" y="3950208"/>
            <a:ext cx="11027664" cy="1600200"/>
          </a:xfrm>
          <a:prstGeom prst="roundRect">
            <a:avLst>
              <a:gd name="adj" fmla="val 2857"/>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3" name="Text 11"/>
          <p:cNvSpPr/>
          <p:nvPr/>
        </p:nvSpPr>
        <p:spPr>
          <a:xfrm>
            <a:off x="859536" y="4114800"/>
            <a:ext cx="3657600" cy="274320"/>
          </a:xfrm>
          <a:prstGeom prst="rect">
            <a:avLst/>
          </a:prstGeom>
          <a:noFill/>
          <a:ln/>
        </p:spPr>
        <p:txBody>
          <a:bodyPr wrap="square" lIns="0" tIns="0" rIns="0" bIns="0" rtlCol="0" anchor="ctr"/>
          <a:lstStyle/>
          <a:p>
            <a:pPr marL="0" indent="0">
              <a:buNone/>
            </a:pPr>
            <a:r>
              <a:rPr lang="en-US" sz="1100" b="1" dirty="0">
                <a:solidFill>
                  <a:srgbClr val="C2410C"/>
                </a:solidFill>
                <a:latin typeface="Calibri" pitchFamily="34" charset="0"/>
                <a:ea typeface="Calibri" pitchFamily="34" charset="-122"/>
                <a:cs typeface="Calibri" pitchFamily="34" charset="-120"/>
              </a:rPr>
              <a:t>Research question</a:t>
            </a:r>
            <a:endParaRPr lang="en-US" sz="1100" dirty="0"/>
          </a:p>
        </p:txBody>
      </p:sp>
      <p:sp>
        <p:nvSpPr>
          <p:cNvPr id="14" name="Text 12"/>
          <p:cNvSpPr/>
          <p:nvPr/>
        </p:nvSpPr>
        <p:spPr>
          <a:xfrm>
            <a:off x="859536" y="4425696"/>
            <a:ext cx="10442448" cy="1005840"/>
          </a:xfrm>
          <a:prstGeom prst="rect">
            <a:avLst/>
          </a:prstGeom>
          <a:noFill/>
          <a:ln/>
        </p:spPr>
        <p:txBody>
          <a:bodyPr wrap="square" lIns="0" tIns="0" rIns="0" bIns="0" rtlCol="0" anchor="ctr"/>
          <a:lstStyle/>
          <a:p>
            <a:pPr marL="0" indent="0">
              <a:buNone/>
            </a:pPr>
            <a:r>
              <a:rPr lang="en-US" sz="1450" dirty="0">
                <a:solidFill>
                  <a:srgbClr val="16232B"/>
                </a:solidFill>
                <a:latin typeface="Calibri" pitchFamily="34" charset="0"/>
                <a:ea typeface="Calibri" pitchFamily="34" charset="-122"/>
                <a:cs typeface="Calibri" pitchFamily="34" charset="-120"/>
              </a:rPr>
              <a:t>Does basic augmentation — horizontal flip, ±18° rotation, ±10% zoom — change the test accuracy or the generalization gap of a fixed two-convolutional-layer CNN on a 10,000-image CIFAR-10 subset, relative to an identical unaugmented model, across ten paired random seeds?</a:t>
            </a:r>
            <a:endParaRPr lang="en-US" sz="1450" dirty="0"/>
          </a:p>
        </p:txBody>
      </p:sp>
      <p:sp>
        <p:nvSpPr>
          <p:cNvPr id="15" name="Text 13"/>
          <p:cNvSpPr/>
          <p:nvPr/>
        </p:nvSpPr>
        <p:spPr>
          <a:xfrm>
            <a:off x="566928" y="5669280"/>
            <a:ext cx="11027664" cy="384048"/>
          </a:xfrm>
          <a:prstGeom prst="rect">
            <a:avLst/>
          </a:prstGeom>
          <a:noFill/>
          <a:ln/>
        </p:spPr>
        <p:txBody>
          <a:bodyPr wrap="square" lIns="0" tIns="0" rIns="0" bIns="0" rtlCol="0" anchor="ctr"/>
          <a:lstStyle/>
          <a:p>
            <a:pPr marL="0" indent="0">
              <a:buNone/>
            </a:pPr>
            <a:r>
              <a:rPr lang="en-US" sz="1350" i="1" dirty="0">
                <a:solidFill>
                  <a:srgbClr val="6B7A83"/>
                </a:solidFill>
                <a:latin typeface="Calibri" pitchFamily="34" charset="0"/>
                <a:ea typeface="Calibri" pitchFamily="34" charset="-122"/>
                <a:cs typeface="Calibri" pitchFamily="34" charset="-120"/>
              </a:rPr>
              <a:t>Our baseline never reached the situation augmentation is designed for. That is the finding.</a:t>
            </a:r>
            <a:endParaRPr lang="en-US" sz="1350" dirty="0"/>
          </a:p>
        </p:txBody>
      </p:sp>
      <p:sp>
        <p:nvSpPr>
          <p:cNvPr id="16" name="Text 14"/>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Maaz Shaikh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a:solidFill>
                  <a:srgbClr val="16232B"/>
                </a:solidFill>
                <a:latin typeface="Cambria"/>
                <a:ea typeface="Cambria"/>
                <a:cs typeface="Cambria" pitchFamily="34" charset="-120"/>
              </a:rPr>
              <a:t>What the research told us, and what we did</a:t>
            </a:r>
            <a:endParaRPr lang="en-US" sz="2900">
              <a:latin typeface="Cambria"/>
              <a:ea typeface="Cambria"/>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261872"/>
          <a:ext cx="11027664"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529584">
                  <a:extLst>
                    <a:ext uri="{9D8B030D-6E8A-4147-A177-3AD203B41FA5}">
                      <a16:colId xmlns:a16="http://schemas.microsoft.com/office/drawing/2014/main" val="20002"/>
                    </a:ext>
                  </a:extLst>
                </a:gridCol>
              </a:tblGrid>
              <a:tr h="8229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it established</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we did about it</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extLst>
                  <a:ext uri="{0D108BD9-81ED-4DB2-BD59-A6C34878D82A}">
                    <a16:rowId xmlns:a16="http://schemas.microsoft.com/office/drawing/2014/main" val="10000"/>
                  </a:ext>
                </a:extLst>
              </a:tr>
              <a:tr h="822960">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Lin et al. (2024)</a:t>
                      </a:r>
                      <a:endParaRPr lang="en-US" sz="1250" dirty="0">
                        <a:latin typeface="Calibri" charset="0"/>
                        <a:ea typeface="Calibri" charset="0"/>
                        <a:cs typeface="Calibri" charset="0"/>
                      </a:endParaRPr>
                    </a:p>
                    <a:p>
                      <a:pPr marL="0" indent="0" algn="l">
                        <a:buNone/>
                      </a:pPr>
                      <a:r>
                        <a:rPr lang="en-US" sz="1250" dirty="0">
                          <a:solidFill>
                            <a:srgbClr val="16232B"/>
                          </a:solidFill>
                          <a:latin typeface="Calibri" pitchFamily="34" charset="0"/>
                          <a:ea typeface="Calibri" pitchFamily="34" charset="-122"/>
                          <a:cs typeface="Calibri" pitchFamily="34" charset="-120"/>
                        </a:rPr>
                        <a:t>JMLR</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Augmentation is an implicit spectral regularizer; its effect is regime-dependent</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Did not predict an accuracy gain</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Alomar et al. (2023)</a:t>
                      </a:r>
                      <a:endParaRPr lang="en-US" sz="1250" dirty="0">
                        <a:latin typeface="Calibri" charset="0"/>
                        <a:ea typeface="Calibri" charset="0"/>
                        <a:cs typeface="Calibri" charset="0"/>
                      </a:endParaRPr>
                    </a:p>
                    <a:p>
                      <a:pPr marL="0" indent="0" algn="l">
                        <a:buNone/>
                      </a:pPr>
                      <a:r>
                        <a:rPr lang="en-US" sz="1250" dirty="0">
                          <a:solidFill>
                            <a:srgbClr val="16232B"/>
                          </a:solidFill>
                          <a:latin typeface="Calibri" pitchFamily="34" charset="0"/>
                          <a:ea typeface="Calibri" pitchFamily="34" charset="-122"/>
                          <a:cs typeface="Calibri" pitchFamily="34" charset="-120"/>
                        </a:rPr>
                        <a:t>Journal of Imaging</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On reduced CIFAR-10, rotation causes "loss of a significant amount of pixel information"</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Rejected the ±36° setting</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Ottoni et al. (2023)</a:t>
                      </a:r>
                      <a:endParaRPr lang="en-US" sz="1250" dirty="0">
                        <a:latin typeface="Calibri" charset="0"/>
                        <a:ea typeface="Calibri" charset="0"/>
                        <a:cs typeface="Calibri" charset="0"/>
                      </a:endParaRPr>
                    </a:p>
                    <a:p>
                      <a:pPr marL="0" indent="0" algn="l">
                        <a:buNone/>
                      </a:pPr>
                      <a:r>
                        <a:rPr lang="en-US" sz="1250" dirty="0">
                          <a:solidFill>
                            <a:srgbClr val="16232B"/>
                          </a:solidFill>
                          <a:latin typeface="Calibri" pitchFamily="34" charset="0"/>
                          <a:ea typeface="Calibri" pitchFamily="34" charset="-122"/>
                          <a:cs typeface="Calibri" pitchFamily="34" charset="-120"/>
                        </a:rPr>
                        <a:t>IJMLC</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Selective tuning beat all-transforms: 88.0% vs 64.7% mean accuracy</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Treated intensity as a decision needing evidence</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Roberts et al. (2021)</a:t>
                      </a:r>
                      <a:endParaRPr lang="en-US" sz="1250" dirty="0">
                        <a:latin typeface="Calibri" charset="0"/>
                        <a:ea typeface="Calibri" charset="0"/>
                        <a:cs typeface="Calibri" charset="0"/>
                      </a:endParaRPr>
                    </a:p>
                    <a:p>
                      <a:pPr marL="0" indent="0" algn="l">
                        <a:buNone/>
                      </a:pPr>
                      <a:r>
                        <a:rPr lang="en-US" sz="1250" dirty="0">
                          <a:solidFill>
                            <a:srgbClr val="16232B"/>
                          </a:solidFill>
                          <a:latin typeface="Calibri" pitchFamily="34" charset="0"/>
                          <a:ea typeface="Calibri" pitchFamily="34" charset="-122"/>
                          <a:cs typeface="Calibri" pitchFamily="34" charset="-120"/>
                        </a:rPr>
                        <a:t>Nature Machine Intelligence</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62 quality-screened studies: "none have potential clinical utility"</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50" dirty="0">
                          <a:solidFill>
                            <a:srgbClr val="16232B"/>
                          </a:solidFill>
                          <a:latin typeface="Calibri" pitchFamily="34" charset="0"/>
                          <a:ea typeface="Calibri" pitchFamily="34" charset="-122"/>
                          <a:cs typeface="Calibri" pitchFamily="34" charset="-120"/>
                        </a:rPr>
                        <a:t>Wrote strict claim boundaries</a:t>
                      </a:r>
                      <a:endParaRPr lang="en-US" sz="125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66928" y="5532120"/>
            <a:ext cx="11027664" cy="384048"/>
          </a:xfrm>
          <a:prstGeom prst="rect">
            <a:avLst/>
          </a:prstGeom>
          <a:noFill/>
          <a:ln/>
        </p:spPr>
        <p:txBody>
          <a:bodyPr wrap="square" lIns="0" tIns="0" rIns="0" bIns="0" rtlCol="0" anchor="ctr"/>
          <a:lstStyle/>
          <a:p>
            <a:pPr marL="0" indent="0">
              <a:buNone/>
            </a:pPr>
            <a:r>
              <a:rPr lang="en-US" sz="1350" b="1" dirty="0">
                <a:solidFill>
                  <a:srgbClr val="C2410C"/>
                </a:solidFill>
                <a:latin typeface="Calibri" pitchFamily="34" charset="0"/>
                <a:ea typeface="Calibri" pitchFamily="34" charset="-122"/>
                <a:cs typeface="Calibri" pitchFamily="34" charset="-120"/>
              </a:rPr>
              <a:t>These did not decorate the report — they changed what we did.</a:t>
            </a:r>
            <a:endParaRPr lang="en-US" sz="1350" dirty="0"/>
          </a:p>
        </p:txBody>
      </p:sp>
      <p:sp>
        <p:nvSpPr>
          <p:cNvPr id="7" name="Text 4"/>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Maaz Shaikh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Data, Variables and Preprocessing</a:t>
            </a:r>
            <a:endParaRPr lang="en-US" sz="2900" dirty="0"/>
          </a:p>
        </p:txBody>
      </p:sp>
      <p:sp>
        <p:nvSpPr>
          <p:cNvPr id="5" name="Text 3"/>
          <p:cNvSpPr/>
          <p:nvPr/>
        </p:nvSpPr>
        <p:spPr>
          <a:xfrm>
            <a:off x="566928" y="1261872"/>
            <a:ext cx="6949440" cy="320040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16232B"/>
                </a:solidFill>
                <a:latin typeface="Calibri" pitchFamily="34" charset="0"/>
                <a:ea typeface="Calibri" pitchFamily="34" charset="-122"/>
                <a:cs typeface="Calibri" pitchFamily="34" charset="-120"/>
              </a:rPr>
              <a:t>CIFAR-10, 32×32×3, 10 balanced classes</a:t>
            </a:r>
            <a:endParaRPr lang="en-US" sz="1500" dirty="0"/>
          </a:p>
          <a:p>
            <a:pPr marL="342900" indent="-342900">
              <a:spcAft>
                <a:spcPts val="1400"/>
              </a:spcAft>
              <a:buSzPct val="100000"/>
              <a:buChar char="•"/>
            </a:pPr>
            <a:r>
              <a:rPr lang="en-US" sz="1500" dirty="0">
                <a:solidFill>
                  <a:srgbClr val="16232B"/>
                </a:solidFill>
                <a:latin typeface="Calibri"/>
                <a:ea typeface="Calibri"/>
                <a:cs typeface="Calibri"/>
              </a:rPr>
              <a:t>10,000 train / 2,000 validation / 3,000 test - fixed subset, data seed 42, identical across every run</a:t>
            </a:r>
            <a:endParaRPr lang="en-US" sz="1500" dirty="0">
              <a:latin typeface="Calibri"/>
              <a:ea typeface="Calibri"/>
              <a:cs typeface="Calibri"/>
            </a:endParaRPr>
          </a:p>
          <a:p>
            <a:pPr marL="342900" indent="-342900">
              <a:spcAft>
                <a:spcPts val="1400"/>
              </a:spcAft>
              <a:buSzPct val="100000"/>
              <a:buChar char="•"/>
            </a:pPr>
            <a:r>
              <a:rPr lang="en-US" sz="1500" dirty="0">
                <a:solidFill>
                  <a:srgbClr val="16232B"/>
                </a:solidFill>
                <a:latin typeface="Calibri"/>
                <a:ea typeface="Calibri"/>
                <a:cs typeface="Calibri"/>
              </a:rPr>
              <a:t>Normalized 0–255 → 0-1. No resizing: 32×32 is the point, not a limitation to fix</a:t>
            </a:r>
            <a:endParaRPr lang="en-US" sz="1500" dirty="0">
              <a:latin typeface="Calibri"/>
              <a:ea typeface="Calibri"/>
              <a:cs typeface="Calibri"/>
            </a:endParaRPr>
          </a:p>
          <a:p>
            <a:pPr marL="342900" indent="-342900">
              <a:spcAft>
                <a:spcPts val="1400"/>
              </a:spcAft>
              <a:buSzPct val="100000"/>
              <a:buChar char="•"/>
            </a:pPr>
            <a:r>
              <a:rPr lang="en-US" sz="1500" dirty="0">
                <a:solidFill>
                  <a:srgbClr val="16232B"/>
                </a:solidFill>
                <a:latin typeface="Calibri" pitchFamily="34" charset="0"/>
                <a:ea typeface="Calibri" pitchFamily="34" charset="-122"/>
                <a:cs typeface="Calibri" pitchFamily="34" charset="-120"/>
              </a:rPr>
              <a:t>IV: Augmentation off / on.   DV: Test Accuracy, Generalization Gap</a:t>
            </a:r>
            <a:endParaRPr lang="en-US" sz="1500" dirty="0"/>
          </a:p>
          <a:p>
            <a:pPr marL="342900" indent="-342900">
              <a:spcAft>
                <a:spcPts val="1400"/>
              </a:spcAft>
              <a:buSzPct val="100000"/>
              <a:buChar char="•"/>
            </a:pPr>
            <a:r>
              <a:rPr lang="en-US" sz="1500" dirty="0">
                <a:solidFill>
                  <a:srgbClr val="16232B"/>
                </a:solidFill>
                <a:latin typeface="Calibri" pitchFamily="34" charset="0"/>
                <a:ea typeface="Calibri" pitchFamily="34" charset="-122"/>
                <a:cs typeface="Calibri" pitchFamily="34" charset="-120"/>
              </a:rPr>
              <a:t>Held constant: Architecture, Adam, 3 epochs, batch 64, all split sizes</a:t>
            </a:r>
            <a:endParaRPr lang="en-US" sz="1500" dirty="0"/>
          </a:p>
        </p:txBody>
      </p:sp>
      <p:sp>
        <p:nvSpPr>
          <p:cNvPr id="6" name="Shape 4"/>
          <p:cNvSpPr/>
          <p:nvPr/>
        </p:nvSpPr>
        <p:spPr>
          <a:xfrm>
            <a:off x="7772400" y="1261872"/>
            <a:ext cx="182880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7" name="Text 5"/>
          <p:cNvSpPr/>
          <p:nvPr/>
        </p:nvSpPr>
        <p:spPr>
          <a:xfrm>
            <a:off x="7863840" y="1389888"/>
            <a:ext cx="1645920" cy="758952"/>
          </a:xfrm>
          <a:prstGeom prst="rect">
            <a:avLst/>
          </a:prstGeom>
          <a:noFill/>
          <a:ln/>
        </p:spPr>
        <p:txBody>
          <a:bodyPr wrap="square" lIns="0" tIns="0" rIns="0" bIns="0" rtlCol="0" anchor="ctr"/>
          <a:lstStyle/>
          <a:p>
            <a:pPr marL="0" indent="0" algn="ctr">
              <a:buNone/>
            </a:pPr>
            <a:r>
              <a:rPr lang="en-US" sz="3200" b="1" dirty="0">
                <a:solidFill>
                  <a:srgbClr val="33505E"/>
                </a:solidFill>
                <a:latin typeface="Cambria" pitchFamily="34" charset="0"/>
                <a:ea typeface="Cambria" pitchFamily="34" charset="-122"/>
                <a:cs typeface="Cambria" pitchFamily="34" charset="-120"/>
              </a:rPr>
              <a:t>282,250</a:t>
            </a:r>
            <a:endParaRPr lang="en-US" sz="3200" dirty="0"/>
          </a:p>
        </p:txBody>
      </p:sp>
      <p:sp>
        <p:nvSpPr>
          <p:cNvPr id="8" name="Text 6"/>
          <p:cNvSpPr/>
          <p:nvPr/>
        </p:nvSpPr>
        <p:spPr>
          <a:xfrm>
            <a:off x="7882128" y="2148840"/>
            <a:ext cx="160934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total parameters</a:t>
            </a:r>
            <a:endParaRPr lang="en-US" sz="1050" dirty="0"/>
          </a:p>
        </p:txBody>
      </p:sp>
      <p:sp>
        <p:nvSpPr>
          <p:cNvPr id="9" name="Shape 7"/>
          <p:cNvSpPr/>
          <p:nvPr/>
        </p:nvSpPr>
        <p:spPr>
          <a:xfrm>
            <a:off x="9765792" y="1261872"/>
            <a:ext cx="182880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0" name="Text 8"/>
          <p:cNvSpPr/>
          <p:nvPr/>
        </p:nvSpPr>
        <p:spPr>
          <a:xfrm>
            <a:off x="9857232" y="1389888"/>
            <a:ext cx="1645920" cy="758952"/>
          </a:xfrm>
          <a:prstGeom prst="rect">
            <a:avLst/>
          </a:prstGeom>
          <a:noFill/>
          <a:ln/>
        </p:spPr>
        <p:txBody>
          <a:bodyPr wrap="square" lIns="0" tIns="0" rIns="0" bIns="0" rtlCol="0" anchor="ctr"/>
          <a:lstStyle/>
          <a:p>
            <a:pPr marL="0" indent="0" algn="ctr">
              <a:buNone/>
            </a:pPr>
            <a:r>
              <a:rPr lang="en-US" sz="3200" b="1" dirty="0">
                <a:solidFill>
                  <a:srgbClr val="C2410C"/>
                </a:solidFill>
                <a:latin typeface="Cambria" pitchFamily="34" charset="0"/>
                <a:ea typeface="Cambria" pitchFamily="34" charset="-122"/>
                <a:cs typeface="Cambria" pitchFamily="34" charset="-120"/>
              </a:rPr>
              <a:t>93%</a:t>
            </a:r>
            <a:endParaRPr lang="en-US" sz="3200" dirty="0"/>
          </a:p>
        </p:txBody>
      </p:sp>
      <p:sp>
        <p:nvSpPr>
          <p:cNvPr id="11" name="Text 9"/>
          <p:cNvSpPr/>
          <p:nvPr/>
        </p:nvSpPr>
        <p:spPr>
          <a:xfrm>
            <a:off x="9875520" y="2148840"/>
            <a:ext cx="160934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in the dense head</a:t>
            </a:r>
            <a:endParaRPr lang="en-US" sz="1050" dirty="0"/>
          </a:p>
        </p:txBody>
      </p:sp>
      <p:sp>
        <p:nvSpPr>
          <p:cNvPr id="12" name="Shape 10"/>
          <p:cNvSpPr/>
          <p:nvPr/>
        </p:nvSpPr>
        <p:spPr>
          <a:xfrm>
            <a:off x="7772400" y="2880360"/>
            <a:ext cx="3822192" cy="1600200"/>
          </a:xfrm>
          <a:prstGeom prst="roundRect">
            <a:avLst>
              <a:gd name="adj" fmla="val 2857"/>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3" name="Text 11"/>
          <p:cNvSpPr/>
          <p:nvPr/>
        </p:nvSpPr>
        <p:spPr>
          <a:xfrm>
            <a:off x="7973568" y="3017520"/>
            <a:ext cx="3419856" cy="1325880"/>
          </a:xfrm>
          <a:prstGeom prst="rect">
            <a:avLst/>
          </a:prstGeom>
          <a:noFill/>
          <a:ln/>
        </p:spPr>
        <p:txBody>
          <a:bodyPr wrap="square" lIns="0" tIns="0" rIns="0" bIns="0" rtlCol="0" anchor="ctr"/>
          <a:lstStyle/>
          <a:p>
            <a:pPr marL="0" indent="0">
              <a:buNone/>
            </a:pPr>
            <a:r>
              <a:rPr lang="en-US" sz="1250" dirty="0">
                <a:solidFill>
                  <a:srgbClr val="33505E"/>
                </a:solidFill>
                <a:latin typeface="Calibri" pitchFamily="34" charset="0"/>
                <a:ea typeface="Calibri" pitchFamily="34" charset="-122"/>
                <a:cs typeface="Calibri" pitchFamily="34" charset="-120"/>
              </a:rPr>
              <a:t>The two convolutional layers hold about 19,000 parameters between them. The "CNN" part of this CNN is tiny.</a:t>
            </a:r>
            <a:endParaRPr lang="en-US" sz="1250" dirty="0"/>
          </a:p>
        </p:txBody>
      </p:sp>
      <p:sp>
        <p:nvSpPr>
          <p:cNvPr id="14" name="Shape 12"/>
          <p:cNvSpPr/>
          <p:nvPr/>
        </p:nvSpPr>
        <p:spPr>
          <a:xfrm>
            <a:off x="566928" y="4663440"/>
            <a:ext cx="6949440" cy="960120"/>
          </a:xfrm>
          <a:prstGeom prst="roundRect">
            <a:avLst>
              <a:gd name="adj" fmla="val 4762"/>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5" name="Text 13"/>
          <p:cNvSpPr/>
          <p:nvPr/>
        </p:nvSpPr>
        <p:spPr>
          <a:xfrm>
            <a:off x="822960" y="4663440"/>
            <a:ext cx="6437376" cy="960120"/>
          </a:xfrm>
          <a:prstGeom prst="rect">
            <a:avLst/>
          </a:prstGeom>
          <a:noFill/>
          <a:ln/>
        </p:spPr>
        <p:txBody>
          <a:bodyPr wrap="square" lIns="0" tIns="0" rIns="0" bIns="0" rtlCol="0" anchor="ctr"/>
          <a:lstStyle/>
          <a:p>
            <a:pPr marL="0" indent="0">
              <a:buNone/>
            </a:pPr>
            <a:r>
              <a:rPr lang="en-US" sz="1300" dirty="0">
                <a:solidFill>
                  <a:srgbClr val="16232B"/>
                </a:solidFill>
                <a:latin typeface="Calibri" pitchFamily="34" charset="0"/>
                <a:ea typeface="Calibri" pitchFamily="34" charset="-122"/>
                <a:cs typeface="Calibri" pitchFamily="34" charset="-120"/>
              </a:rPr>
              <a:t>Architecture is unchanged from the provided baseline — altering it would break the assigned comparison.</a:t>
            </a:r>
            <a:endParaRPr lang="en-US" sz="1300" dirty="0"/>
          </a:p>
        </p:txBody>
      </p:sp>
      <p:sp>
        <p:nvSpPr>
          <p:cNvPr id="16" name="Text 14"/>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Sankeerth Reddy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Mathematical foundation: Macro Recall</a:t>
            </a:r>
            <a:endParaRPr lang="en-US" sz="2900" dirty="0"/>
          </a:p>
        </p:txBody>
      </p:sp>
      <p:sp>
        <p:nvSpPr>
          <p:cNvPr id="5" name="Shape 3"/>
          <p:cNvSpPr/>
          <p:nvPr/>
        </p:nvSpPr>
        <p:spPr>
          <a:xfrm>
            <a:off x="566928" y="1261872"/>
            <a:ext cx="11027664" cy="1051560"/>
          </a:xfrm>
          <a:prstGeom prst="roundRect">
            <a:avLst>
              <a:gd name="adj" fmla="val 4348"/>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6" name="Text 4"/>
          <p:cNvSpPr/>
          <p:nvPr/>
        </p:nvSpPr>
        <p:spPr>
          <a:xfrm>
            <a:off x="841248" y="1261872"/>
            <a:ext cx="10479024" cy="1051560"/>
          </a:xfrm>
          <a:prstGeom prst="rect">
            <a:avLst/>
          </a:prstGeom>
          <a:noFill/>
          <a:ln/>
        </p:spPr>
        <p:txBody>
          <a:bodyPr wrap="square" lIns="0" tIns="0" rIns="0" bIns="0" rtlCol="0" anchor="ctr"/>
          <a:lstStyle/>
          <a:p>
            <a:pPr marL="0" indent="0">
              <a:buNone/>
            </a:pPr>
            <a:r>
              <a:rPr lang="en-US" sz="1900" b="1" dirty="0">
                <a:solidFill>
                  <a:srgbClr val="16232B"/>
                </a:solidFill>
                <a:latin typeface="Cambria" pitchFamily="34" charset="0"/>
                <a:ea typeface="Cambria" pitchFamily="34" charset="-122"/>
                <a:cs typeface="Cambria" pitchFamily="34" charset="-120"/>
              </a:rPr>
              <a:t>Recall (one class)  =  TP / (TP + FN)          Macro Recall  =  Mean of the 10 per-class recalls</a:t>
            </a:r>
            <a:endParaRPr lang="en-US" sz="1900" dirty="0"/>
          </a:p>
        </p:txBody>
      </p:sp>
      <p:sp>
        <p:nvSpPr>
          <p:cNvPr id="7" name="Text 5"/>
          <p:cNvSpPr/>
          <p:nvPr/>
        </p:nvSpPr>
        <p:spPr>
          <a:xfrm>
            <a:off x="566928" y="2697480"/>
            <a:ext cx="5577840" cy="237744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16232B"/>
                </a:solidFill>
                <a:latin typeface="Calibri" pitchFamily="34" charset="0"/>
                <a:ea typeface="Calibri" pitchFamily="34" charset="-122"/>
                <a:cs typeface="Calibri" pitchFamily="34" charset="-120"/>
              </a:rPr>
              <a:t>TP — really class k, predicted k</a:t>
            </a:r>
            <a:endParaRPr lang="en-US" sz="1400" dirty="0"/>
          </a:p>
          <a:p>
            <a:pPr marL="342900" indent="-342900">
              <a:spcAft>
                <a:spcPts val="1200"/>
              </a:spcAft>
              <a:buSzPct val="100000"/>
              <a:buChar char="•"/>
            </a:pPr>
            <a:r>
              <a:rPr lang="en-US" sz="1400" dirty="0">
                <a:solidFill>
                  <a:srgbClr val="16232B"/>
                </a:solidFill>
                <a:latin typeface="Calibri" pitchFamily="34" charset="0"/>
                <a:ea typeface="Calibri" pitchFamily="34" charset="-122"/>
                <a:cs typeface="Calibri" pitchFamily="34" charset="-120"/>
              </a:rPr>
              <a:t>FN — really class k, predicted as something else</a:t>
            </a:r>
            <a:endParaRPr lang="en-US" sz="1400" dirty="0"/>
          </a:p>
          <a:p>
            <a:pPr marL="342900" indent="-342900">
              <a:spcAft>
                <a:spcPts val="1200"/>
              </a:spcAft>
              <a:buSzPct val="100000"/>
              <a:buChar char="•"/>
            </a:pPr>
            <a:r>
              <a:rPr lang="en-US" sz="1400" dirty="0">
                <a:solidFill>
                  <a:srgbClr val="16232B"/>
                </a:solidFill>
                <a:latin typeface="Calibri" pitchFamily="34" charset="0"/>
                <a:ea typeface="Calibri" pitchFamily="34" charset="-122"/>
                <a:cs typeface="Calibri" pitchFamily="34" charset="-120"/>
              </a:rPr>
              <a:t>FP — another class predicted as k. Not in recall; it lives in precision</a:t>
            </a:r>
            <a:endParaRPr lang="en-US" sz="1400" dirty="0"/>
          </a:p>
          <a:p>
            <a:pPr marL="342900" indent="-342900">
              <a:spcAft>
                <a:spcPts val="1200"/>
              </a:spcAft>
              <a:buSzPct val="100000"/>
              <a:buChar char="•"/>
            </a:pPr>
            <a:r>
              <a:rPr lang="en-US" sz="1400" dirty="0">
                <a:solidFill>
                  <a:srgbClr val="16232B"/>
                </a:solidFill>
                <a:latin typeface="Calibri" pitchFamily="34" charset="0"/>
                <a:ea typeface="Calibri" pitchFamily="34" charset="-122"/>
                <a:cs typeface="Calibri" pitchFamily="34" charset="-120"/>
              </a:rPr>
              <a:t>Macro: every class weighted equally, whatever its size</a:t>
            </a:r>
            <a:endParaRPr lang="en-US" sz="1400" dirty="0"/>
          </a:p>
          <a:p>
            <a:pPr marL="342900" indent="-342900">
              <a:spcAft>
                <a:spcPts val="1200"/>
              </a:spcAft>
              <a:buSzPct val="100000"/>
              <a:buChar char="•"/>
            </a:pPr>
            <a:r>
              <a:rPr lang="en-US" sz="1400" dirty="0">
                <a:solidFill>
                  <a:srgbClr val="16232B"/>
                </a:solidFill>
                <a:latin typeface="Calibri" pitchFamily="34" charset="0"/>
                <a:ea typeface="Calibri" pitchFamily="34" charset="-122"/>
                <a:cs typeface="Calibri" pitchFamily="34" charset="-120"/>
              </a:rPr>
              <a:t>Reveals: per-class coverage a single accuracy figure averages away</a:t>
            </a:r>
            <a:endParaRPr lang="en-US" sz="1400" dirty="0"/>
          </a:p>
        </p:txBody>
      </p:sp>
      <p:sp>
        <p:nvSpPr>
          <p:cNvPr id="8" name="Shape 6"/>
          <p:cNvSpPr/>
          <p:nvPr/>
        </p:nvSpPr>
        <p:spPr>
          <a:xfrm>
            <a:off x="6492240" y="2697480"/>
            <a:ext cx="5102352" cy="2788920"/>
          </a:xfrm>
          <a:prstGeom prst="roundRect">
            <a:avLst>
              <a:gd name="adj" fmla="val 1639"/>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9" name="Text 7"/>
          <p:cNvSpPr/>
          <p:nvPr/>
        </p:nvSpPr>
        <p:spPr>
          <a:xfrm>
            <a:off x="6784848" y="2871216"/>
            <a:ext cx="4480560" cy="274320"/>
          </a:xfrm>
          <a:prstGeom prst="rect">
            <a:avLst/>
          </a:prstGeom>
          <a:noFill/>
          <a:ln/>
        </p:spPr>
        <p:txBody>
          <a:bodyPr wrap="square" lIns="0" tIns="0" rIns="0" bIns="0" rtlCol="0" anchor="ctr"/>
          <a:lstStyle/>
          <a:p>
            <a:pPr marL="0" indent="0">
              <a:buNone/>
            </a:pPr>
            <a:r>
              <a:rPr lang="en-US" sz="1150" b="1" dirty="0">
                <a:solidFill>
                  <a:srgbClr val="C2410C"/>
                </a:solidFill>
                <a:latin typeface="Calibri" pitchFamily="34" charset="0"/>
                <a:ea typeface="Calibri" pitchFamily="34" charset="-122"/>
                <a:cs typeface="Calibri" pitchFamily="34" charset="-120"/>
              </a:rPr>
              <a:t>What it hides</a:t>
            </a:r>
            <a:endParaRPr lang="en-US" sz="1150" dirty="0"/>
          </a:p>
        </p:txBody>
      </p:sp>
      <p:sp>
        <p:nvSpPr>
          <p:cNvPr id="10" name="Text 8"/>
          <p:cNvSpPr/>
          <p:nvPr/>
        </p:nvSpPr>
        <p:spPr>
          <a:xfrm>
            <a:off x="6784848" y="3200400"/>
            <a:ext cx="4517136" cy="2148840"/>
          </a:xfrm>
          <a:prstGeom prst="rect">
            <a:avLst/>
          </a:prstGeom>
          <a:noFill/>
          <a:ln/>
        </p:spPr>
        <p:txBody>
          <a:bodyPr wrap="square" lIns="0" tIns="0" rIns="0" bIns="0" rtlCol="0" anchor="ctr"/>
          <a:lstStyle/>
          <a:p>
            <a:pPr marL="0" indent="0">
              <a:spcAft>
                <a:spcPts val="1000"/>
              </a:spcAft>
              <a:buNone/>
            </a:pPr>
            <a:r>
              <a:rPr lang="en-US" sz="1300" dirty="0">
                <a:solidFill>
                  <a:srgbClr val="16232B"/>
                </a:solidFill>
                <a:latin typeface="Calibri" pitchFamily="34" charset="0"/>
                <a:ea typeface="Calibri" pitchFamily="34" charset="-122"/>
                <a:cs typeface="Calibri" pitchFamily="34" charset="-120"/>
              </a:rPr>
              <a:t>Our macro recall of 51.4% averages bird at 0.32 with truck at 0.64 — a 32-point spread the single number conceals.</a:t>
            </a:r>
            <a:endParaRPr lang="en-US" sz="1300" dirty="0"/>
          </a:p>
          <a:p>
            <a:pPr marL="0" indent="0">
              <a:spcAft>
                <a:spcPts val="1000"/>
              </a:spcAft>
              <a:buNone/>
            </a:pPr>
            <a:r>
              <a:rPr lang="en-US" sz="1300" dirty="0">
                <a:solidFill>
                  <a:srgbClr val="16232B"/>
                </a:solidFill>
                <a:latin typeface="Calibri" pitchFamily="34" charset="0"/>
                <a:ea typeface="Calibri" pitchFamily="34" charset="-122"/>
                <a:cs typeface="Calibri" pitchFamily="34" charset="-120"/>
              </a:rPr>
              <a:t>It also ignores precision entirely. Truck has our best recall (0.64) and one of our worst precisions (0.51): the model uses it as a dumping ground for uncertain images, and recall rewards exactly that.</a:t>
            </a:r>
            <a:endParaRPr lang="en-US" sz="1300" dirty="0"/>
          </a:p>
        </p:txBody>
      </p:sp>
      <p:sp>
        <p:nvSpPr>
          <p:cNvPr id="11" name="Text 9"/>
          <p:cNvSpPr/>
          <p:nvPr/>
        </p:nvSpPr>
        <p:spPr>
          <a:xfrm>
            <a:off x="566928" y="5650992"/>
            <a:ext cx="11027664" cy="384048"/>
          </a:xfrm>
          <a:prstGeom prst="rect">
            <a:avLst/>
          </a:prstGeom>
          <a:noFill/>
          <a:ln/>
        </p:spPr>
        <p:txBody>
          <a:bodyPr wrap="square" lIns="0" tIns="0" rIns="0" bIns="0" rtlCol="0" anchor="ctr"/>
          <a:lstStyle/>
          <a:p>
            <a:pPr marL="0" indent="0">
              <a:buNone/>
            </a:pPr>
            <a:r>
              <a:rPr lang="en-US" sz="1350" i="1" dirty="0">
                <a:solidFill>
                  <a:srgbClr val="6B7A83"/>
                </a:solidFill>
                <a:latin typeface="Calibri" pitchFamily="34" charset="0"/>
                <a:ea typeface="Calibri" pitchFamily="34" charset="-122"/>
                <a:cs typeface="Calibri" pitchFamily="34" charset="-120"/>
              </a:rPr>
              <a:t>One number would have told us truck was our best class. It is not.</a:t>
            </a:r>
            <a:endParaRPr lang="en-US" sz="1350" dirty="0"/>
          </a:p>
        </p:txBody>
      </p:sp>
      <p:sp>
        <p:nvSpPr>
          <p:cNvPr id="12" name="Text 10"/>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Sankeerth Reddy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Baseline: Model is Underfitting</a:t>
            </a:r>
            <a:endParaRPr lang="en-US" sz="2900" dirty="0"/>
          </a:p>
        </p:txBody>
      </p:sp>
      <p:pic>
        <p:nvPicPr>
          <p:cNvPr id="5" name="Image 0" descr="/mnt/user-data/uploads/CNN Group Project/results/fig_baseline_curves.png"/>
          <p:cNvPicPr>
            <a:picLocks noChangeAspect="1"/>
          </p:cNvPicPr>
          <p:nvPr/>
        </p:nvPicPr>
        <p:blipFill>
          <a:blip r:embed="rId3"/>
          <a:stretch>
            <a:fillRect/>
          </a:stretch>
        </p:blipFill>
        <p:spPr>
          <a:xfrm>
            <a:off x="566928" y="1261872"/>
            <a:ext cx="6949440" cy="2523744"/>
          </a:xfrm>
          <a:prstGeom prst="rect">
            <a:avLst/>
          </a:prstGeom>
        </p:spPr>
      </p:pic>
      <p:sp>
        <p:nvSpPr>
          <p:cNvPr id="6" name="Shape 3"/>
          <p:cNvSpPr/>
          <p:nvPr/>
        </p:nvSpPr>
        <p:spPr>
          <a:xfrm>
            <a:off x="7772400" y="1261872"/>
            <a:ext cx="182880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7" name="Text 4"/>
          <p:cNvSpPr/>
          <p:nvPr/>
        </p:nvSpPr>
        <p:spPr>
          <a:xfrm>
            <a:off x="7863840" y="1389888"/>
            <a:ext cx="1645920" cy="758952"/>
          </a:xfrm>
          <a:prstGeom prst="rect">
            <a:avLst/>
          </a:prstGeom>
          <a:noFill/>
          <a:ln/>
        </p:spPr>
        <p:txBody>
          <a:bodyPr wrap="square" lIns="0" tIns="0" rIns="0" bIns="0" rtlCol="0" anchor="ctr"/>
          <a:lstStyle/>
          <a:p>
            <a:pPr marL="0" indent="0" algn="ctr">
              <a:buNone/>
            </a:pPr>
            <a:r>
              <a:rPr lang="en-US" sz="3200" b="1" dirty="0">
                <a:solidFill>
                  <a:srgbClr val="33505E"/>
                </a:solidFill>
                <a:latin typeface="Cambria" pitchFamily="34" charset="0"/>
                <a:ea typeface="Cambria" pitchFamily="34" charset="-122"/>
                <a:cs typeface="Cambria" pitchFamily="34" charset="-120"/>
              </a:rPr>
              <a:t>51.35%</a:t>
            </a:r>
            <a:endParaRPr lang="en-US" sz="3200" dirty="0"/>
          </a:p>
        </p:txBody>
      </p:sp>
      <p:sp>
        <p:nvSpPr>
          <p:cNvPr id="8" name="Text 5"/>
          <p:cNvSpPr/>
          <p:nvPr/>
        </p:nvSpPr>
        <p:spPr>
          <a:xfrm>
            <a:off x="7882128" y="2148840"/>
            <a:ext cx="160934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test accuracy</a:t>
            </a:r>
            <a:endParaRPr lang="en-US" sz="1050" dirty="0"/>
          </a:p>
        </p:txBody>
      </p:sp>
      <p:sp>
        <p:nvSpPr>
          <p:cNvPr id="9" name="Shape 6"/>
          <p:cNvSpPr/>
          <p:nvPr/>
        </p:nvSpPr>
        <p:spPr>
          <a:xfrm>
            <a:off x="9765792" y="1261872"/>
            <a:ext cx="1828800" cy="1417320"/>
          </a:xfrm>
          <a:prstGeom prst="roundRect">
            <a:avLst>
              <a:gd name="adj" fmla="val 322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0" name="Text 7"/>
          <p:cNvSpPr/>
          <p:nvPr/>
        </p:nvSpPr>
        <p:spPr>
          <a:xfrm>
            <a:off x="9857232" y="1389888"/>
            <a:ext cx="1645920" cy="758952"/>
          </a:xfrm>
          <a:prstGeom prst="rect">
            <a:avLst/>
          </a:prstGeom>
          <a:noFill/>
          <a:ln/>
        </p:spPr>
        <p:txBody>
          <a:bodyPr wrap="square" lIns="0" tIns="0" rIns="0" bIns="0" rtlCol="0" anchor="ctr"/>
          <a:lstStyle/>
          <a:p>
            <a:pPr marL="0" indent="0" algn="ctr">
              <a:buNone/>
            </a:pPr>
            <a:r>
              <a:rPr lang="en-US" sz="3200" b="1" dirty="0">
                <a:solidFill>
                  <a:srgbClr val="C2410C"/>
                </a:solidFill>
                <a:latin typeface="Cambria" pitchFamily="34" charset="0"/>
                <a:ea typeface="Cambria" pitchFamily="34" charset="-122"/>
                <a:cs typeface="Cambria" pitchFamily="34" charset="-120"/>
              </a:rPr>
              <a:t>3.77 pp</a:t>
            </a:r>
            <a:endParaRPr lang="en-US" sz="3200" dirty="0"/>
          </a:p>
        </p:txBody>
      </p:sp>
      <p:sp>
        <p:nvSpPr>
          <p:cNvPr id="11" name="Text 8"/>
          <p:cNvSpPr/>
          <p:nvPr/>
        </p:nvSpPr>
        <p:spPr>
          <a:xfrm>
            <a:off x="9875520" y="2148840"/>
            <a:ext cx="1609344" cy="420624"/>
          </a:xfrm>
          <a:prstGeom prst="rect">
            <a:avLst/>
          </a:prstGeom>
          <a:noFill/>
          <a:ln/>
        </p:spPr>
        <p:txBody>
          <a:bodyPr wrap="square" lIns="0" tIns="0" rIns="0" bIns="0" rtlCol="0" anchor="t"/>
          <a:lstStyle/>
          <a:p>
            <a:pPr marL="0" indent="0" algn="ctr">
              <a:buNone/>
            </a:pPr>
            <a:r>
              <a:rPr lang="en-US" sz="1050" dirty="0">
                <a:solidFill>
                  <a:srgbClr val="6B7A83"/>
                </a:solidFill>
                <a:latin typeface="Calibri" pitchFamily="34" charset="0"/>
                <a:ea typeface="Calibri" pitchFamily="34" charset="-122"/>
                <a:cs typeface="Calibri" pitchFamily="34" charset="-120"/>
              </a:rPr>
              <a:t>noise floor</a:t>
            </a:r>
            <a:endParaRPr lang="en-US" sz="1050" dirty="0"/>
          </a:p>
        </p:txBody>
      </p:sp>
      <p:sp>
        <p:nvSpPr>
          <p:cNvPr id="12" name="Text 9"/>
          <p:cNvSpPr/>
          <p:nvPr/>
        </p:nvSpPr>
        <p:spPr>
          <a:xfrm>
            <a:off x="7772400" y="2926080"/>
            <a:ext cx="3822192" cy="228600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16232B"/>
                </a:solidFill>
                <a:latin typeface="Calibri" pitchFamily="34" charset="0"/>
                <a:ea typeface="Calibri" pitchFamily="34" charset="-122"/>
                <a:cs typeface="Calibri" pitchFamily="34" charset="-120"/>
              </a:rPr>
              <a:t>Validation accuracy sits above training accuracy for two of three epochs</a:t>
            </a:r>
            <a:endParaRPr lang="en-US" sz="1250" dirty="0"/>
          </a:p>
          <a:p>
            <a:pPr marL="342900" indent="-342900">
              <a:spcAft>
                <a:spcPts val="1100"/>
              </a:spcAft>
              <a:buSzPct val="100000"/>
              <a:buChar char="•"/>
            </a:pPr>
            <a:r>
              <a:rPr lang="en-US" sz="1250" dirty="0">
                <a:solidFill>
                  <a:srgbClr val="16232B"/>
                </a:solidFill>
                <a:latin typeface="Calibri" pitchFamily="34" charset="0"/>
                <a:ea typeface="Calibri" pitchFamily="34" charset="-122"/>
                <a:cs typeface="Calibri" pitchFamily="34" charset="-120"/>
              </a:rPr>
              <a:t>Validation loss is still falling at epoch 3 — the model has not begun to memorise</a:t>
            </a:r>
            <a:endParaRPr lang="en-US" sz="1250" dirty="0"/>
          </a:p>
          <a:p>
            <a:pPr marL="342900" indent="-342900">
              <a:spcAft>
                <a:spcPts val="1100"/>
              </a:spcAft>
              <a:buSzPct val="100000"/>
              <a:buChar char="•"/>
            </a:pPr>
            <a:r>
              <a:rPr lang="en-US" sz="1250" dirty="0">
                <a:solidFill>
                  <a:srgbClr val="16232B"/>
                </a:solidFill>
                <a:latin typeface="Calibri" pitchFamily="34" charset="0"/>
                <a:ea typeface="Calibri" pitchFamily="34" charset="-122"/>
                <a:cs typeface="Calibri" pitchFamily="34" charset="-120"/>
              </a:rPr>
              <a:t>Five identical models, seed the only difference: 49.50% to 53.27%</a:t>
            </a:r>
            <a:endParaRPr lang="en-US" sz="1250" dirty="0"/>
          </a:p>
        </p:txBody>
      </p:sp>
      <p:sp>
        <p:nvSpPr>
          <p:cNvPr id="13" name="Shape 10"/>
          <p:cNvSpPr/>
          <p:nvPr/>
        </p:nvSpPr>
        <p:spPr>
          <a:xfrm>
            <a:off x="566928" y="4059936"/>
            <a:ext cx="6949440" cy="1325880"/>
          </a:xfrm>
          <a:prstGeom prst="roundRect">
            <a:avLst>
              <a:gd name="adj" fmla="val 3448"/>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4" name="Text 11"/>
          <p:cNvSpPr/>
          <p:nvPr/>
        </p:nvSpPr>
        <p:spPr>
          <a:xfrm>
            <a:off x="822960" y="4059936"/>
            <a:ext cx="6437376" cy="1325880"/>
          </a:xfrm>
          <a:prstGeom prst="rect">
            <a:avLst/>
          </a:prstGeom>
          <a:noFill/>
          <a:ln/>
        </p:spPr>
        <p:txBody>
          <a:bodyPr wrap="square" lIns="0" tIns="0" rIns="0" bIns="0" rtlCol="0" anchor="ctr"/>
          <a:lstStyle/>
          <a:p>
            <a:pPr marL="0" indent="0">
              <a:buNone/>
            </a:pPr>
            <a:r>
              <a:rPr lang="en-US" sz="1350" dirty="0">
                <a:solidFill>
                  <a:srgbClr val="16232B"/>
                </a:solidFill>
                <a:latin typeface="Calibri" pitchFamily="34" charset="0"/>
                <a:ea typeface="Calibri" pitchFamily="34" charset="-122"/>
                <a:cs typeface="Calibri" pitchFamily="34" charset="-120"/>
              </a:rPr>
              <a:t>Augmentation had nothing to fix — and our noise floor is larger than most augmentation effects reported at this scale. Everything after this slide is shaped by that number.</a:t>
            </a:r>
            <a:endParaRPr lang="en-US" sz="1350" dirty="0"/>
          </a:p>
        </p:txBody>
      </p:sp>
      <p:sp>
        <p:nvSpPr>
          <p:cNvPr id="15" name="Text 12"/>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Sankeerth Reddy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One Controlled Change</a:t>
            </a:r>
            <a:endParaRPr lang="en-US" sz="2900" dirty="0"/>
          </a:p>
        </p:txBody>
      </p:sp>
      <p:sp>
        <p:nvSpPr>
          <p:cNvPr id="5" name="Shape 3"/>
          <p:cNvSpPr/>
          <p:nvPr/>
        </p:nvSpPr>
        <p:spPr>
          <a:xfrm>
            <a:off x="566928" y="1261872"/>
            <a:ext cx="11027664" cy="914400"/>
          </a:xfrm>
          <a:prstGeom prst="roundRect">
            <a:avLst>
              <a:gd name="adj" fmla="val 5000"/>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6" name="Text 4"/>
          <p:cNvSpPr/>
          <p:nvPr/>
        </p:nvSpPr>
        <p:spPr>
          <a:xfrm>
            <a:off x="841248" y="1261872"/>
            <a:ext cx="10479024" cy="914400"/>
          </a:xfrm>
          <a:prstGeom prst="rect">
            <a:avLst/>
          </a:prstGeom>
          <a:noFill/>
          <a:ln/>
        </p:spPr>
        <p:txBody>
          <a:bodyPr wrap="square" lIns="0" tIns="0" rIns="0" bIns="0" rtlCol="0" anchor="ctr"/>
          <a:lstStyle/>
          <a:p>
            <a:pPr marL="0" indent="0">
              <a:buNone/>
            </a:pPr>
            <a:r>
              <a:rPr lang="en-US" sz="1600" b="1" dirty="0">
                <a:solidFill>
                  <a:srgbClr val="16232B"/>
                </a:solidFill>
                <a:latin typeface="Cambria" pitchFamily="34" charset="0"/>
                <a:ea typeface="Cambria" pitchFamily="34" charset="-122"/>
                <a:cs typeface="Cambria" pitchFamily="34" charset="-120"/>
              </a:rPr>
              <a:t>Augmentation off  </a:t>
            </a:r>
            <a:r>
              <a:rPr lang="en-US" sz="1600" b="1">
                <a:solidFill>
                  <a:srgbClr val="16232B"/>
                </a:solidFill>
                <a:latin typeface="Cambria" pitchFamily="34" charset="0"/>
                <a:ea typeface="Cambria" pitchFamily="34" charset="-122"/>
                <a:cs typeface="Cambria" pitchFamily="34" charset="-120"/>
              </a:rPr>
              <a:t>→  on,   </a:t>
            </a:r>
            <a:r>
              <a:rPr lang="en-US" sz="1600" b="1" dirty="0">
                <a:solidFill>
                  <a:srgbClr val="16232B"/>
                </a:solidFill>
                <a:latin typeface="Cambria" pitchFamily="34" charset="0"/>
                <a:ea typeface="Cambria" pitchFamily="34" charset="-122"/>
                <a:cs typeface="Cambria" pitchFamily="34" charset="-120"/>
              </a:rPr>
              <a:t>horizontal flip  +  RandomRotation(0.05) = ±18°  +  RandomZoom(0.10) = ±10%</a:t>
            </a:r>
            <a:endParaRPr lang="en-US" sz="1600" dirty="0"/>
          </a:p>
        </p:txBody>
      </p:sp>
      <p:sp>
        <p:nvSpPr>
          <p:cNvPr id="7" name="Text 5"/>
          <p:cNvSpPr/>
          <p:nvPr/>
        </p:nvSpPr>
        <p:spPr>
          <a:xfrm>
            <a:off x="566928" y="2468880"/>
            <a:ext cx="5486400" cy="274320"/>
          </a:xfrm>
          <a:prstGeom prst="rect">
            <a:avLst/>
          </a:prstGeom>
          <a:noFill/>
          <a:ln/>
        </p:spPr>
        <p:txBody>
          <a:bodyPr wrap="square" lIns="0" tIns="0" rIns="0" bIns="0"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Why moderate, not stronger</a:t>
            </a:r>
            <a:endParaRPr lang="en-US" sz="1200" dirty="0"/>
          </a:p>
        </p:txBody>
      </p:sp>
      <p:sp>
        <p:nvSpPr>
          <p:cNvPr id="8" name="Text 6"/>
          <p:cNvSpPr/>
          <p:nvPr/>
        </p:nvSpPr>
        <p:spPr>
          <a:xfrm>
            <a:off x="566928" y="2816352"/>
            <a:ext cx="5486400" cy="173736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±36° on a 32×32 image destroys a substantial fraction of it (Alomar et al., 2023)</a:t>
            </a:r>
            <a:endParaRPr lang="en-US" sz="1350" dirty="0"/>
          </a:p>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Stacking all transforms underperformed selective choice (Ottoni et al., 2023)</a:t>
            </a:r>
            <a:endParaRPr lang="en-US" sz="1350" dirty="0"/>
          </a:p>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Severe transforms push samples outside the class vicinity (Xu et al., 2023)</a:t>
            </a:r>
            <a:endParaRPr lang="en-US" sz="1350" dirty="0"/>
          </a:p>
        </p:txBody>
      </p:sp>
      <p:sp>
        <p:nvSpPr>
          <p:cNvPr id="9" name="Text 7"/>
          <p:cNvSpPr/>
          <p:nvPr/>
        </p:nvSpPr>
        <p:spPr>
          <a:xfrm>
            <a:off x="6400800" y="2468880"/>
            <a:ext cx="5193792" cy="274320"/>
          </a:xfrm>
          <a:prstGeom prst="rect">
            <a:avLst/>
          </a:prstGeom>
          <a:noFill/>
          <a:ln/>
        </p:spPr>
        <p:txBody>
          <a:bodyPr wrap="square" lIns="0" tIns="0" rIns="0" bIns="0"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Why we paired by seed</a:t>
            </a:r>
            <a:endParaRPr lang="en-US" sz="1200" dirty="0"/>
          </a:p>
        </p:txBody>
      </p:sp>
      <p:sp>
        <p:nvSpPr>
          <p:cNvPr id="10" name="Text 8"/>
          <p:cNvSpPr/>
          <p:nvPr/>
        </p:nvSpPr>
        <p:spPr>
          <a:xfrm>
            <a:off x="6400800" y="2816352"/>
            <a:ext cx="5193792" cy="173736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Both conditions run on the same ten seeds, compared within seed</a:t>
            </a:r>
            <a:endParaRPr lang="en-US" sz="1350" dirty="0"/>
          </a:p>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Shared initialisation means much of the 3.77 pp cancels out of the difference</a:t>
            </a:r>
            <a:endParaRPr lang="en-US" sz="1350" dirty="0"/>
          </a:p>
          <a:p>
            <a:pPr marL="342900" indent="-342900">
              <a:spcAft>
                <a:spcPts val="1200"/>
              </a:spcAft>
              <a:buSzPct val="100000"/>
              <a:buChar char="•"/>
            </a:pPr>
            <a:r>
              <a:rPr lang="en-US" sz="1350" dirty="0">
                <a:solidFill>
                  <a:srgbClr val="16232B"/>
                </a:solidFill>
                <a:latin typeface="Calibri" pitchFamily="34" charset="0"/>
                <a:ea typeface="Calibri" pitchFamily="34" charset="-122"/>
                <a:cs typeface="Calibri" pitchFamily="34" charset="-120"/>
              </a:rPr>
              <a:t>Wilcoxon at n = 5 cannot reach p &lt; 0.05 — its minimum two-tailed p is 0.0625</a:t>
            </a:r>
            <a:endParaRPr lang="en-US" sz="1350" dirty="0"/>
          </a:p>
        </p:txBody>
      </p:sp>
      <p:sp>
        <p:nvSpPr>
          <p:cNvPr id="11" name="Shape 9"/>
          <p:cNvSpPr/>
          <p:nvPr/>
        </p:nvSpPr>
        <p:spPr>
          <a:xfrm>
            <a:off x="566928" y="4828032"/>
            <a:ext cx="11027664" cy="1051560"/>
          </a:xfrm>
          <a:prstGeom prst="roundRect">
            <a:avLst>
              <a:gd name="adj" fmla="val 4348"/>
            </a:avLst>
          </a:prstGeom>
          <a:solidFill>
            <a:srgbClr val="1F3A34"/>
          </a:solidFill>
          <a:ln/>
          <a:effectLst>
            <a:outerShdw blurRad="76200" dist="508" dir="5400000" algn="bl" rotWithShape="0">
              <a:srgbClr val="9AA8B0">
                <a:alpha val="15000"/>
              </a:srgbClr>
            </a:outerShdw>
          </a:effectLst>
        </p:spPr>
        <p:txBody>
          <a:bodyPr/>
          <a:lstStyle/>
          <a:p>
            <a:endParaRPr lang="en-US"/>
          </a:p>
        </p:txBody>
      </p:sp>
      <p:sp>
        <p:nvSpPr>
          <p:cNvPr id="12" name="Text 10"/>
          <p:cNvSpPr/>
          <p:nvPr/>
        </p:nvSpPr>
        <p:spPr>
          <a:xfrm>
            <a:off x="841248" y="4828032"/>
            <a:ext cx="10479024" cy="1051560"/>
          </a:xfrm>
          <a:prstGeom prst="rect">
            <a:avLst/>
          </a:prstGeom>
          <a:noFill/>
          <a:ln/>
        </p:spPr>
        <p:txBody>
          <a:bodyPr wrap="square" lIns="0" tIns="0" rIns="0" bIns="0" rtlCol="0" anchor="ctr"/>
          <a:lstStyle/>
          <a:p>
            <a:pPr marL="0" indent="0">
              <a:buNone/>
            </a:pPr>
            <a:r>
              <a:rPr lang="en-US" sz="1450" b="1" dirty="0">
                <a:solidFill>
                  <a:srgbClr val="D9EDE6"/>
                </a:solidFill>
                <a:latin typeface="Calibri" pitchFamily="34" charset="0"/>
                <a:ea typeface="Calibri" pitchFamily="34" charset="-122"/>
                <a:cs typeface="Calibri" pitchFamily="34" charset="-120"/>
              </a:rPr>
              <a:t>Hypotheses were written down and committed to git before a single augmented model was trained.</a:t>
            </a:r>
            <a:endParaRPr lang="en-US" sz="1450" dirty="0"/>
          </a:p>
        </p:txBody>
      </p:sp>
      <p:sp>
        <p:nvSpPr>
          <p:cNvPr id="13" name="Text 11"/>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Aditi Patel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Comparison: Both Pre-Registered Nulls Rejected</a:t>
            </a:r>
            <a:endParaRPr lang="en-US" sz="2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261872"/>
          <a:ext cx="6126480" cy="3328416"/>
        </p:xfrm>
        <a:graphic>
          <a:graphicData uri="http://schemas.openxmlformats.org/drawingml/2006/table">
            <a:tbl>
              <a:tblPr/>
              <a:tblGrid>
                <a:gridCol w="24688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75488">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Generalization gap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extLst>
                  <a:ext uri="{0D108BD9-81ED-4DB2-BD59-A6C34878D82A}">
                    <a16:rowId xmlns:a16="http://schemas.microsoft.com/office/drawing/2014/main" val="10000"/>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Mean paired difference</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b="1" dirty="0">
                          <a:solidFill>
                            <a:srgbClr val="C2410C"/>
                          </a:solidFill>
                          <a:latin typeface="Calibri" pitchFamily="34" charset="0"/>
                          <a:ea typeface="Calibri" pitchFamily="34" charset="-122"/>
                          <a:cs typeface="Calibri" pitchFamily="34" charset="-120"/>
                        </a:rPr>
                        <a:t>−2.78 pp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b="1" dirty="0">
                          <a:solidFill>
                            <a:srgbClr val="C2410C"/>
                          </a:solidFill>
                          <a:latin typeface="Calibri" pitchFamily="34" charset="0"/>
                          <a:ea typeface="Calibri" pitchFamily="34" charset="-122"/>
                          <a:cs typeface="Calibri" pitchFamily="34" charset="-120"/>
                        </a:rPr>
                        <a:t>−2.01 pp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95% confidence interval</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[−4.54, −1.02]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[−3.10, −0.92]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Paired t (df = 9)</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−3.573,  p = 0.006</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−4.164,  p = 0.0012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Wilcoxon signed-rank</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p = 0.027</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p = 0.0029</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Cohen's d</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Seeds in that direction</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7 of 10</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9 of 10</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6" name="Image 0" descr="/mnt/user-data/uploads/CNN Group Project/results/fig_paired_slope.png"/>
          <p:cNvPicPr>
            <a:picLocks noChangeAspect="1"/>
          </p:cNvPicPr>
          <p:nvPr/>
        </p:nvPicPr>
        <p:blipFill>
          <a:blip r:embed="rId3"/>
          <a:stretch>
            <a:fillRect/>
          </a:stretch>
        </p:blipFill>
        <p:spPr>
          <a:xfrm>
            <a:off x="6949440" y="1261872"/>
            <a:ext cx="2880360" cy="2880360"/>
          </a:xfrm>
          <a:prstGeom prst="rect">
            <a:avLst/>
          </a:prstGeom>
        </p:spPr>
      </p:pic>
      <p:sp>
        <p:nvSpPr>
          <p:cNvPr id="7" name="Shape 3"/>
          <p:cNvSpPr/>
          <p:nvPr/>
        </p:nvSpPr>
        <p:spPr>
          <a:xfrm>
            <a:off x="10058400" y="1261872"/>
            <a:ext cx="1536192" cy="2880360"/>
          </a:xfrm>
          <a:prstGeom prst="roundRect">
            <a:avLst>
              <a:gd name="adj" fmla="val 297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8" name="Text 4"/>
          <p:cNvSpPr/>
          <p:nvPr/>
        </p:nvSpPr>
        <p:spPr>
          <a:xfrm>
            <a:off x="10058400" y="1481328"/>
            <a:ext cx="1536192" cy="457200"/>
          </a:xfrm>
          <a:prstGeom prst="rect">
            <a:avLst/>
          </a:prstGeom>
          <a:noFill/>
          <a:ln/>
        </p:spPr>
        <p:txBody>
          <a:bodyPr wrap="square" lIns="0" tIns="0" rIns="0" bIns="0" rtlCol="0" anchor="ctr"/>
          <a:lstStyle/>
          <a:p>
            <a:pPr marL="0" indent="0" algn="ctr">
              <a:buNone/>
            </a:pPr>
            <a:r>
              <a:rPr lang="en-US" sz="2200" b="1" dirty="0">
                <a:solidFill>
                  <a:srgbClr val="C2410C"/>
                </a:solidFill>
                <a:latin typeface="Cambria" pitchFamily="34" charset="0"/>
                <a:ea typeface="Cambria" pitchFamily="34" charset="-122"/>
                <a:cs typeface="Cambria" pitchFamily="34" charset="-120"/>
              </a:rPr>
              <a:t>7 of 10</a:t>
            </a:r>
            <a:endParaRPr lang="en-US" sz="2200" dirty="0"/>
          </a:p>
        </p:txBody>
      </p:sp>
      <p:sp>
        <p:nvSpPr>
          <p:cNvPr id="5" name="Text 5"/>
          <p:cNvSpPr/>
          <p:nvPr/>
        </p:nvSpPr>
        <p:spPr>
          <a:xfrm>
            <a:off x="10149840" y="1975104"/>
            <a:ext cx="1353312" cy="685800"/>
          </a:xfrm>
          <a:prstGeom prst="rect">
            <a:avLst/>
          </a:prstGeom>
          <a:noFill/>
          <a:ln/>
        </p:spPr>
        <p:txBody>
          <a:bodyPr wrap="square" lIns="0" tIns="0" rIns="0" bIns="0" rtlCol="0" anchor="ctr"/>
          <a:lstStyle/>
          <a:p>
            <a:pPr marL="0" indent="0" algn="ctr">
              <a:buNone/>
            </a:pPr>
            <a:r>
              <a:rPr lang="en-US" sz="1050" dirty="0">
                <a:solidFill>
                  <a:srgbClr val="6B7A83"/>
                </a:solidFill>
                <a:latin typeface="Calibri" pitchFamily="34" charset="0"/>
                <a:ea typeface="Calibri" pitchFamily="34" charset="-122"/>
                <a:cs typeface="Calibri" pitchFamily="34" charset="-120"/>
              </a:rPr>
              <a:t>seeds moved down on accuracy</a:t>
            </a:r>
            <a:endParaRPr lang="en-US" sz="1050" dirty="0"/>
          </a:p>
        </p:txBody>
      </p:sp>
      <p:sp>
        <p:nvSpPr>
          <p:cNvPr id="10" name="Text 6"/>
          <p:cNvSpPr/>
          <p:nvPr/>
        </p:nvSpPr>
        <p:spPr>
          <a:xfrm>
            <a:off x="10058400" y="2889504"/>
            <a:ext cx="1536192" cy="457200"/>
          </a:xfrm>
          <a:prstGeom prst="rect">
            <a:avLst/>
          </a:prstGeom>
          <a:noFill/>
          <a:ln/>
        </p:spPr>
        <p:txBody>
          <a:bodyPr wrap="square" lIns="0" tIns="0" rIns="0" bIns="0" rtlCol="0" anchor="ctr"/>
          <a:lstStyle/>
          <a:p>
            <a:pPr marL="0" indent="0" algn="ctr">
              <a:buNone/>
            </a:pPr>
            <a:r>
              <a:rPr lang="en-US" sz="2200" b="1" dirty="0">
                <a:solidFill>
                  <a:srgbClr val="C2410C"/>
                </a:solidFill>
                <a:latin typeface="Cambria" pitchFamily="34" charset="0"/>
                <a:ea typeface="Cambria" pitchFamily="34" charset="-122"/>
                <a:cs typeface="Cambria" pitchFamily="34" charset="-120"/>
              </a:rPr>
              <a:t>9 of 10</a:t>
            </a:r>
            <a:endParaRPr lang="en-US" sz="2200" dirty="0"/>
          </a:p>
        </p:txBody>
      </p:sp>
      <p:sp>
        <p:nvSpPr>
          <p:cNvPr id="11" name="Text 7"/>
          <p:cNvSpPr/>
          <p:nvPr/>
        </p:nvSpPr>
        <p:spPr>
          <a:xfrm>
            <a:off x="10149840" y="3383280"/>
            <a:ext cx="1353312" cy="685800"/>
          </a:xfrm>
          <a:prstGeom prst="rect">
            <a:avLst/>
          </a:prstGeom>
          <a:noFill/>
          <a:ln/>
        </p:spPr>
        <p:txBody>
          <a:bodyPr wrap="square" lIns="0" tIns="0" rIns="0" bIns="0" rtlCol="0" anchor="ctr"/>
          <a:lstStyle/>
          <a:p>
            <a:pPr marL="0" indent="0" algn="ctr">
              <a:buNone/>
            </a:pPr>
            <a:r>
              <a:rPr lang="en-US" sz="1050" dirty="0">
                <a:solidFill>
                  <a:srgbClr val="6B7A83"/>
                </a:solidFill>
                <a:latin typeface="Calibri" pitchFamily="34" charset="0"/>
                <a:ea typeface="Calibri" pitchFamily="34" charset="-122"/>
                <a:cs typeface="Calibri" pitchFamily="34" charset="-120"/>
              </a:rPr>
              <a:t>seeds narrowed the gap</a:t>
            </a:r>
            <a:endParaRPr lang="en-US" sz="1050" dirty="0"/>
          </a:p>
        </p:txBody>
      </p:sp>
      <p:sp>
        <p:nvSpPr>
          <p:cNvPr id="12" name="Shape 8"/>
          <p:cNvSpPr/>
          <p:nvPr/>
        </p:nvSpPr>
        <p:spPr>
          <a:xfrm>
            <a:off x="566928" y="4617720"/>
            <a:ext cx="11027664" cy="1207008"/>
          </a:xfrm>
          <a:prstGeom prst="roundRect">
            <a:avLst>
              <a:gd name="adj" fmla="val 3788"/>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3" name="Text 9"/>
          <p:cNvSpPr/>
          <p:nvPr/>
        </p:nvSpPr>
        <p:spPr>
          <a:xfrm>
            <a:off x="841248" y="4617720"/>
            <a:ext cx="10479024" cy="1207008"/>
          </a:xfrm>
          <a:prstGeom prst="rect">
            <a:avLst/>
          </a:prstGeom>
          <a:noFill/>
          <a:ln/>
        </p:spPr>
        <p:txBody>
          <a:bodyPr wrap="square" lIns="0" tIns="0" rIns="0" bIns="0" rtlCol="0" anchor="ctr"/>
          <a:lstStyle/>
          <a:p>
            <a:pPr marL="0" indent="0">
              <a:buNone/>
            </a:pPr>
            <a:r>
              <a:rPr lang="en-US" sz="1350" dirty="0">
                <a:solidFill>
                  <a:srgbClr val="16232B"/>
                </a:solidFill>
                <a:latin typeface="Calibri" pitchFamily="34" charset="0"/>
                <a:ea typeface="Calibri" pitchFamily="34" charset="-122"/>
                <a:cs typeface="Calibri" pitchFamily="34" charset="-120"/>
              </a:rPr>
              <a:t>Our effect of 2.78 pp is smaller than our own 3.77 pp noise floor. It reached significance through consistency across ten paired seeds, not through magnitude — a single run each way could not have found it.</a:t>
            </a:r>
            <a:endParaRPr lang="en-US" sz="1350" dirty="0"/>
          </a:p>
        </p:txBody>
      </p:sp>
      <p:sp>
        <p:nvSpPr>
          <p:cNvPr id="14" name="Text 10"/>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Aditi Patel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16232B"/>
                </a:solidFill>
                <a:latin typeface="Cambria" pitchFamily="34" charset="0"/>
                <a:ea typeface="Cambria" pitchFamily="34" charset="-122"/>
                <a:cs typeface="Cambria" pitchFamily="34" charset="-120"/>
              </a:rPr>
              <a:t>Gap closed from the wrong side</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61872"/>
          <a:ext cx="6126480" cy="2048256"/>
        </p:xfrm>
        <a:graphic>
          <a:graphicData uri="http://schemas.openxmlformats.org/drawingml/2006/table">
            <a:tbl>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12064">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Augmented</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solidFill>
                      <a:srgbClr val="33505E"/>
                    </a:solidFill>
                  </a:tcPr>
                </a:tc>
                <a:extLst>
                  <a:ext uri="{0D108BD9-81ED-4DB2-BD59-A6C34878D82A}">
                    <a16:rowId xmlns:a16="http://schemas.microsoft.com/office/drawing/2014/main" val="10000"/>
                  </a:ext>
                </a:extLst>
              </a:tr>
              <a:tr h="512064">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Clean train accuracy</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0.5428</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0.4993</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b="1" dirty="0">
                          <a:solidFill>
                            <a:srgbClr val="C2410C"/>
                          </a:solidFill>
                          <a:latin typeface="Calibri" pitchFamily="34" charset="0"/>
                          <a:ea typeface="Calibri" pitchFamily="34" charset="-122"/>
                          <a:cs typeface="Calibri" pitchFamily="34" charset="-120"/>
                        </a:rPr>
                        <a:t>−4.35 pp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Clean validation accuracy</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0.4986</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0.4752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b="1" dirty="0">
                          <a:solidFill>
                            <a:srgbClr val="C2410C"/>
                          </a:solidFill>
                          <a:latin typeface="Calibri" pitchFamily="34" charset="0"/>
                          <a:ea typeface="Calibri" pitchFamily="34" charset="-122"/>
                          <a:cs typeface="Calibri" pitchFamily="34" charset="-120"/>
                        </a:rPr>
                        <a:t>−2.34 pp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Generalization gap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0.0442</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0.0241</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tc>
                  <a:txBody>
                    <a:bodyPr/>
                    <a:lstStyle/>
                    <a:p>
                      <a:pPr marL="0" indent="0" algn="l">
                        <a:buNone/>
                      </a:pPr>
                      <a:r>
                        <a:rPr lang="en-US" sz="1200" dirty="0">
                          <a:solidFill>
                            <a:srgbClr val="16232B"/>
                          </a:solidFill>
                          <a:latin typeface="Calibri" pitchFamily="34" charset="0"/>
                          <a:ea typeface="Calibri" pitchFamily="34" charset="-122"/>
                          <a:cs typeface="Calibri" pitchFamily="34" charset="-120"/>
                        </a:rPr>
                        <a:t>−2.01 pp</a:t>
                      </a:r>
                      <a:endParaRPr lang="en-US" sz="1200" dirty="0">
                        <a:latin typeface="Calibri" charset="0"/>
                        <a:ea typeface="Calibri" charset="0"/>
                        <a:cs typeface="Calibri" charset="0"/>
                      </a:endParaRPr>
                    </a:p>
                  </a:txBody>
                  <a:tcPr anchor="ctr">
                    <a:lnL w="6350" cap="flat" cmpd="sng" algn="ctr">
                      <a:solidFill>
                        <a:srgbClr val="D8DFE3"/>
                      </a:solidFill>
                      <a:prstDash val="solid"/>
                      <a:round/>
                      <a:headEnd type="none" w="med" len="med"/>
                      <a:tailEnd type="none" w="med" len="med"/>
                    </a:lnL>
                    <a:lnR w="6350" cap="flat" cmpd="sng" algn="ctr">
                      <a:solidFill>
                        <a:srgbClr val="D8DFE3"/>
                      </a:solidFill>
                      <a:prstDash val="solid"/>
                      <a:round/>
                      <a:headEnd type="none" w="med" len="med"/>
                      <a:tailEnd type="none" w="med" len="med"/>
                    </a:lnR>
                    <a:lnT w="6350" cap="flat" cmpd="sng" algn="ctr">
                      <a:solidFill>
                        <a:srgbClr val="D8DFE3"/>
                      </a:solidFill>
                      <a:prstDash val="solid"/>
                      <a:round/>
                      <a:headEnd type="none" w="med" len="med"/>
                      <a:tailEnd type="none" w="med" len="med"/>
                    </a:lnT>
                    <a:lnB w="6350" cap="flat" cmpd="sng" algn="ctr">
                      <a:solidFill>
                        <a:srgbClr val="D8DF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566928" y="3291840"/>
            <a:ext cx="6126480" cy="1481328"/>
          </a:xfrm>
          <a:prstGeom prst="roundRect">
            <a:avLst>
              <a:gd name="adj" fmla="val 308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7" name="Text 4"/>
          <p:cNvSpPr/>
          <p:nvPr/>
        </p:nvSpPr>
        <p:spPr>
          <a:xfrm>
            <a:off x="822960" y="3291840"/>
            <a:ext cx="5614416" cy="1481328"/>
          </a:xfrm>
          <a:prstGeom prst="rect">
            <a:avLst/>
          </a:prstGeom>
          <a:noFill/>
          <a:ln/>
        </p:spPr>
        <p:txBody>
          <a:bodyPr wrap="square" lIns="0" tIns="0" rIns="0" bIns="0" rtlCol="0" anchor="ctr"/>
          <a:lstStyle/>
          <a:p>
            <a:pPr marL="0" indent="0">
              <a:buNone/>
            </a:pPr>
            <a:r>
              <a:rPr lang="en-US" sz="1350" dirty="0">
                <a:solidFill>
                  <a:srgbClr val="16232B"/>
                </a:solidFill>
                <a:latin typeface="Calibri" pitchFamily="34" charset="0"/>
                <a:ea typeface="Calibri" pitchFamily="34" charset="-122"/>
                <a:cs typeface="Calibri" pitchFamily="34" charset="-120"/>
              </a:rPr>
              <a:t>Both terms fell — training nearly twice as far as validation. The gap narrowed because training performance collapsed toward validation, not because generalization improved.</a:t>
            </a:r>
            <a:endParaRPr lang="en-US" sz="1350" dirty="0"/>
          </a:p>
        </p:txBody>
      </p:sp>
      <p:pic>
        <p:nvPicPr>
          <p:cNvPr id="8" name="Image 0" descr="/mnt/user-data/uploads/CNN Group Project/results/fig_confusion_side_by_side.png"/>
          <p:cNvPicPr>
            <a:picLocks noChangeAspect="1"/>
          </p:cNvPicPr>
          <p:nvPr/>
        </p:nvPicPr>
        <p:blipFill>
          <a:blip r:embed="rId3"/>
          <a:stretch>
            <a:fillRect/>
          </a:stretch>
        </p:blipFill>
        <p:spPr>
          <a:xfrm>
            <a:off x="6949440" y="1261872"/>
            <a:ext cx="4645152" cy="1810512"/>
          </a:xfrm>
          <a:prstGeom prst="rect">
            <a:avLst/>
          </a:prstGeom>
        </p:spPr>
      </p:pic>
      <p:sp>
        <p:nvSpPr>
          <p:cNvPr id="9" name="Shape 5"/>
          <p:cNvSpPr/>
          <p:nvPr/>
        </p:nvSpPr>
        <p:spPr>
          <a:xfrm>
            <a:off x="6949440" y="3291840"/>
            <a:ext cx="2231136" cy="1481328"/>
          </a:xfrm>
          <a:prstGeom prst="roundRect">
            <a:avLst>
              <a:gd name="adj" fmla="val 308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5" name="Text 6"/>
          <p:cNvSpPr/>
          <p:nvPr/>
        </p:nvSpPr>
        <p:spPr>
          <a:xfrm>
            <a:off x="7004304" y="3474720"/>
            <a:ext cx="2121408" cy="402336"/>
          </a:xfrm>
          <a:prstGeom prst="rect">
            <a:avLst/>
          </a:prstGeom>
          <a:noFill/>
          <a:ln/>
        </p:spPr>
        <p:txBody>
          <a:bodyPr wrap="square" lIns="0" tIns="0" rIns="0" bIns="0" rtlCol="0" anchor="ctr"/>
          <a:lstStyle/>
          <a:p>
            <a:pPr marL="0" indent="0" algn="ctr">
              <a:buNone/>
            </a:pPr>
            <a:r>
              <a:rPr lang="en-US" sz="1800" b="1" dirty="0">
                <a:solidFill>
                  <a:srgbClr val="C2410C"/>
                </a:solidFill>
                <a:latin typeface="Cambria" pitchFamily="34" charset="0"/>
                <a:ea typeface="Cambria" pitchFamily="34" charset="-122"/>
                <a:cs typeface="Cambria" pitchFamily="34" charset="-120"/>
              </a:rPr>
              <a:t>0.252 → 0.172</a:t>
            </a:r>
            <a:endParaRPr lang="en-US" sz="1800" dirty="0"/>
          </a:p>
        </p:txBody>
      </p:sp>
      <p:sp>
        <p:nvSpPr>
          <p:cNvPr id="11" name="Text 7"/>
          <p:cNvSpPr/>
          <p:nvPr/>
        </p:nvSpPr>
        <p:spPr>
          <a:xfrm>
            <a:off x="7040880" y="3968496"/>
            <a:ext cx="2048256" cy="685800"/>
          </a:xfrm>
          <a:prstGeom prst="rect">
            <a:avLst/>
          </a:prstGeom>
          <a:noFill/>
          <a:ln/>
        </p:spPr>
        <p:txBody>
          <a:bodyPr wrap="square" lIns="0" tIns="0" rIns="0" bIns="0" rtlCol="0" anchor="ctr"/>
          <a:lstStyle/>
          <a:p>
            <a:pPr marL="0" indent="0" algn="ctr">
              <a:buNone/>
            </a:pPr>
            <a:r>
              <a:rPr lang="en-US" sz="1050" dirty="0">
                <a:solidFill>
                  <a:srgbClr val="6B7A83"/>
                </a:solidFill>
                <a:latin typeface="Calibri" pitchFamily="34" charset="0"/>
                <a:ea typeface="Calibri" pitchFamily="34" charset="-122"/>
                <a:cs typeface="Calibri" pitchFamily="34" charset="-120"/>
              </a:rPr>
              <a:t>bird recall</a:t>
            </a:r>
            <a:endParaRPr lang="en-US" sz="1050" dirty="0"/>
          </a:p>
          <a:p>
            <a:pPr marL="0" indent="0" algn="ctr">
              <a:buNone/>
            </a:pPr>
            <a:r>
              <a:rPr lang="en-US" sz="1050" dirty="0">
                <a:solidFill>
                  <a:srgbClr val="6B7A83"/>
                </a:solidFill>
                <a:latin typeface="Calibri" pitchFamily="34" charset="0"/>
                <a:ea typeface="Calibri" pitchFamily="34" charset="-122"/>
                <a:cs typeface="Calibri" pitchFamily="34" charset="-120"/>
              </a:rPr>
              <a:t>a 32% relative loss</a:t>
            </a:r>
            <a:endParaRPr lang="en-US" sz="1050" dirty="0"/>
          </a:p>
        </p:txBody>
      </p:sp>
      <p:sp>
        <p:nvSpPr>
          <p:cNvPr id="12" name="Shape 8"/>
          <p:cNvSpPr/>
          <p:nvPr/>
        </p:nvSpPr>
        <p:spPr>
          <a:xfrm>
            <a:off x="9363456" y="3291840"/>
            <a:ext cx="2231136" cy="1481328"/>
          </a:xfrm>
          <a:prstGeom prst="roundRect">
            <a:avLst>
              <a:gd name="adj" fmla="val 3086"/>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3" name="Text 9"/>
          <p:cNvSpPr/>
          <p:nvPr/>
        </p:nvSpPr>
        <p:spPr>
          <a:xfrm>
            <a:off x="9418320" y="3474720"/>
            <a:ext cx="2121408" cy="402336"/>
          </a:xfrm>
          <a:prstGeom prst="rect">
            <a:avLst/>
          </a:prstGeom>
          <a:noFill/>
          <a:ln/>
        </p:spPr>
        <p:txBody>
          <a:bodyPr wrap="square" lIns="0" tIns="0" rIns="0" bIns="0" rtlCol="0" anchor="ctr"/>
          <a:lstStyle/>
          <a:p>
            <a:pPr marL="0" indent="0" algn="ctr">
              <a:buNone/>
            </a:pPr>
            <a:r>
              <a:rPr lang="en-US" sz="1800" b="1" dirty="0">
                <a:solidFill>
                  <a:srgbClr val="2F6F6B"/>
                </a:solidFill>
                <a:latin typeface="Cambria" pitchFamily="34" charset="0"/>
                <a:ea typeface="Cambria" pitchFamily="34" charset="-122"/>
                <a:cs typeface="Cambria" pitchFamily="34" charset="-120"/>
              </a:rPr>
              <a:t>0.643 → 0.705</a:t>
            </a:r>
            <a:endParaRPr lang="en-US" sz="1800" dirty="0"/>
          </a:p>
        </p:txBody>
      </p:sp>
      <p:sp>
        <p:nvSpPr>
          <p:cNvPr id="14" name="Text 10"/>
          <p:cNvSpPr/>
          <p:nvPr/>
        </p:nvSpPr>
        <p:spPr>
          <a:xfrm>
            <a:off x="9454896" y="3968496"/>
            <a:ext cx="2048256" cy="685800"/>
          </a:xfrm>
          <a:prstGeom prst="rect">
            <a:avLst/>
          </a:prstGeom>
          <a:noFill/>
          <a:ln/>
        </p:spPr>
        <p:txBody>
          <a:bodyPr wrap="square" lIns="0" tIns="0" rIns="0" bIns="0" rtlCol="0" anchor="ctr"/>
          <a:lstStyle/>
          <a:p>
            <a:pPr marL="0" indent="0" algn="ctr">
              <a:buNone/>
            </a:pPr>
            <a:r>
              <a:rPr lang="en-US" sz="1050" dirty="0">
                <a:solidFill>
                  <a:srgbClr val="6B7A83"/>
                </a:solidFill>
                <a:latin typeface="Calibri" pitchFamily="34" charset="0"/>
                <a:ea typeface="Calibri" pitchFamily="34" charset="-122"/>
                <a:cs typeface="Calibri" pitchFamily="34" charset="-120"/>
              </a:rPr>
              <a:t>automobile recall</a:t>
            </a:r>
            <a:endParaRPr lang="en-US" sz="1050" dirty="0"/>
          </a:p>
          <a:p>
            <a:pPr marL="0" indent="0" algn="ctr">
              <a:buNone/>
            </a:pPr>
            <a:r>
              <a:rPr lang="en-US" sz="1050" dirty="0">
                <a:solidFill>
                  <a:srgbClr val="6B7A83"/>
                </a:solidFill>
                <a:latin typeface="Calibri" pitchFamily="34" charset="0"/>
                <a:ea typeface="Calibri" pitchFamily="34" charset="-122"/>
                <a:cs typeface="Calibri" pitchFamily="34" charset="-120"/>
              </a:rPr>
              <a:t>but precision fell too</a:t>
            </a:r>
            <a:endParaRPr lang="en-US" sz="1050" dirty="0"/>
          </a:p>
        </p:txBody>
      </p:sp>
      <p:sp>
        <p:nvSpPr>
          <p:cNvPr id="15" name="Shape 11"/>
          <p:cNvSpPr/>
          <p:nvPr/>
        </p:nvSpPr>
        <p:spPr>
          <a:xfrm>
            <a:off x="566928" y="4956048"/>
            <a:ext cx="11027664" cy="914400"/>
          </a:xfrm>
          <a:prstGeom prst="roundRect">
            <a:avLst>
              <a:gd name="adj" fmla="val 5000"/>
            </a:avLst>
          </a:prstGeom>
          <a:solidFill>
            <a:srgbClr val="EEF2F4"/>
          </a:solidFill>
          <a:ln/>
          <a:effectLst>
            <a:outerShdw blurRad="76200" dist="508" dir="5400000" algn="bl" rotWithShape="0">
              <a:srgbClr val="9AA8B0">
                <a:alpha val="15000"/>
              </a:srgbClr>
            </a:outerShdw>
          </a:effectLst>
        </p:spPr>
        <p:txBody>
          <a:bodyPr/>
          <a:lstStyle/>
          <a:p>
            <a:endParaRPr lang="en-US"/>
          </a:p>
        </p:txBody>
      </p:sp>
      <p:sp>
        <p:nvSpPr>
          <p:cNvPr id="16" name="Text 12"/>
          <p:cNvSpPr/>
          <p:nvPr/>
        </p:nvSpPr>
        <p:spPr>
          <a:xfrm>
            <a:off x="841248" y="4956048"/>
            <a:ext cx="10479024" cy="914400"/>
          </a:xfrm>
          <a:prstGeom prst="rect">
            <a:avLst/>
          </a:prstGeom>
          <a:noFill/>
          <a:ln/>
        </p:spPr>
        <p:txBody>
          <a:bodyPr wrap="square" lIns="0" tIns="0" rIns="0" bIns="0" rtlCol="0" anchor="ctr"/>
          <a:lstStyle/>
          <a:p>
            <a:pPr marL="0" indent="0">
              <a:buNone/>
            </a:pPr>
            <a:r>
              <a:rPr lang="en-US" sz="1400" b="1" dirty="0">
                <a:solidFill>
                  <a:srgbClr val="C2410C"/>
                </a:solidFill>
                <a:latin typeface="Calibri" pitchFamily="34" charset="0"/>
                <a:ea typeface="Calibri" pitchFamily="34" charset="-122"/>
                <a:cs typeface="Calibri" pitchFamily="34" charset="-120"/>
              </a:rPr>
              <a:t>A shrinking gap is normally read as better generalization. Reported alone, it would have told us the opposite of the truth.</a:t>
            </a:r>
            <a:endParaRPr lang="en-US" sz="1400" dirty="0"/>
          </a:p>
        </p:txBody>
      </p:sp>
      <p:sp>
        <p:nvSpPr>
          <p:cNvPr id="17" name="Text 13"/>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Aditi Patel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2B"/>
        </a:solidFill>
        <a:effectLst/>
      </p:bgPr>
    </p:bg>
    <p:spTree>
      <p:nvGrpSpPr>
        <p:cNvPr id="1" name=""/>
        <p:cNvGrpSpPr/>
        <p:nvPr/>
      </p:nvGrpSpPr>
      <p:grpSpPr>
        <a:xfrm>
          <a:off x="0" y="0"/>
          <a:ext cx="0" cy="0"/>
          <a:chOff x="0" y="0"/>
          <a:chExt cx="0" cy="0"/>
        </a:xfrm>
      </p:grpSpPr>
      <p:sp>
        <p:nvSpPr>
          <p:cNvPr id="2" name="Shape 0"/>
          <p:cNvSpPr/>
          <p:nvPr/>
        </p:nvSpPr>
        <p:spPr>
          <a:xfrm>
            <a:off x="566928" y="402336"/>
            <a:ext cx="493776" cy="493776"/>
          </a:xfrm>
          <a:prstGeom prst="ellipse">
            <a:avLst/>
          </a:prstGeom>
          <a:solidFill>
            <a:srgbClr val="C2410C"/>
          </a:solidFill>
          <a:ln/>
        </p:spPr>
        <p:txBody>
          <a:bodyPr/>
          <a:lstStyle/>
          <a:p>
            <a:endParaRPr lang="en-US"/>
          </a:p>
        </p:txBody>
      </p:sp>
      <p:sp>
        <p:nvSpPr>
          <p:cNvPr id="3" name="Text 1"/>
          <p:cNvSpPr/>
          <p:nvPr/>
        </p:nvSpPr>
        <p:spPr>
          <a:xfrm>
            <a:off x="566928" y="4023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4" name="Text 2"/>
          <p:cNvSpPr/>
          <p:nvPr/>
        </p:nvSpPr>
        <p:spPr>
          <a:xfrm>
            <a:off x="1243584" y="347472"/>
            <a:ext cx="10351008" cy="621792"/>
          </a:xfrm>
          <a:prstGeom prst="rect">
            <a:avLst/>
          </a:prstGeom>
          <a:noFill/>
          <a:ln/>
        </p:spPr>
        <p:txBody>
          <a:bodyPr wrap="square" lIns="0" tIns="0" rIns="0" bIns="0" rtlCol="0" anchor="ctr"/>
          <a:lstStyle/>
          <a:p>
            <a:pPr marL="0" indent="0" algn="l">
              <a:buNone/>
            </a:pPr>
            <a:r>
              <a:rPr lang="en-US" sz="2900" b="1" dirty="0">
                <a:solidFill>
                  <a:srgbClr val="FFFFFF"/>
                </a:solidFill>
                <a:latin typeface="Cambria" pitchFamily="34" charset="0"/>
                <a:ea typeface="Cambria" pitchFamily="34" charset="-122"/>
                <a:cs typeface="Cambria" pitchFamily="34" charset="-120"/>
              </a:rPr>
              <a:t>Finding, Limitation, Next Step</a:t>
            </a:r>
            <a:endParaRPr lang="en-US" sz="2900" dirty="0"/>
          </a:p>
        </p:txBody>
      </p:sp>
      <p:sp>
        <p:nvSpPr>
          <p:cNvPr id="5" name="Text 3"/>
          <p:cNvSpPr/>
          <p:nvPr/>
        </p:nvSpPr>
        <p:spPr>
          <a:xfrm>
            <a:off x="566928" y="1261872"/>
            <a:ext cx="7223760" cy="3931920"/>
          </a:xfrm>
          <a:prstGeom prst="rect">
            <a:avLst/>
          </a:prstGeom>
          <a:noFill/>
          <a:ln/>
        </p:spPr>
        <p:txBody>
          <a:bodyPr wrap="square" lIns="0" tIns="0" rIns="0" bIns="0" rtlCol="0" anchor="ctr"/>
          <a:lstStyle/>
          <a:p>
            <a:pPr marL="342900" indent="-342900">
              <a:spcAft>
                <a:spcPts val="1500"/>
              </a:spcAft>
              <a:buSzPct val="100000"/>
              <a:buChar char="•"/>
            </a:pPr>
            <a:r>
              <a:rPr lang="en-US" sz="1300" dirty="0">
                <a:solidFill>
                  <a:srgbClr val="DCE6EB"/>
                </a:solidFill>
                <a:latin typeface="Calibri" pitchFamily="34" charset="0"/>
                <a:ea typeface="Calibri" pitchFamily="34" charset="-122"/>
                <a:cs typeface="Calibri" pitchFamily="34" charset="-120"/>
              </a:rPr>
              <a:t>Finding — Augmentation reduced test accuracy by 2.78 pp while reducing the gap by 2.01 pp. Both terms of the gap fell.</a:t>
            </a:r>
            <a:endParaRPr lang="en-US" sz="1300" dirty="0"/>
          </a:p>
          <a:p>
            <a:pPr marL="342900" indent="-342900">
              <a:spcAft>
                <a:spcPts val="1500"/>
              </a:spcAft>
              <a:buSzPct val="100000"/>
              <a:buChar char="•"/>
            </a:pPr>
            <a:r>
              <a:rPr lang="en-US" sz="1300" dirty="0">
                <a:solidFill>
                  <a:srgbClr val="DCE6EB"/>
                </a:solidFill>
                <a:latin typeface="Calibri" pitchFamily="34" charset="0"/>
                <a:ea typeface="Calibri" pitchFamily="34" charset="-122"/>
                <a:cs typeface="Calibri" pitchFamily="34" charset="-120"/>
              </a:rPr>
              <a:t>Implication — Augmentation is a regularizer, and a model that has not overfit has nothing to regularize (Lin et al., 2024). It is not a free default under a short budget.</a:t>
            </a:r>
            <a:endParaRPr lang="en-US" sz="1300" dirty="0"/>
          </a:p>
          <a:p>
            <a:pPr marL="342900" indent="-342900">
              <a:spcAft>
                <a:spcPts val="1500"/>
              </a:spcAft>
              <a:buSzPct val="100000"/>
              <a:buChar char="•"/>
            </a:pPr>
            <a:r>
              <a:rPr lang="en-US" sz="1300" dirty="0">
                <a:solidFill>
                  <a:srgbClr val="DCE6EB"/>
                </a:solidFill>
                <a:latin typeface="Calibri" pitchFamily="34" charset="0"/>
                <a:ea typeface="Calibri" pitchFamily="34" charset="-122"/>
                <a:cs typeface="Calibri" pitchFamily="34" charset="-120"/>
              </a:rPr>
              <a:t>Replication — Notebook's independent re-run reproduced both findings more strongly: −3.75 pp accuracy and −2.96 pp gap, with 10 of 10 seeds agreeing.</a:t>
            </a:r>
            <a:endParaRPr lang="en-US" sz="1300" dirty="0"/>
          </a:p>
          <a:p>
            <a:pPr marL="342900" indent="-342900">
              <a:spcAft>
                <a:spcPts val="1500"/>
              </a:spcAft>
              <a:buSzPct val="100000"/>
              <a:buChar char="•"/>
            </a:pPr>
            <a:r>
              <a:rPr lang="en-US" sz="1300" dirty="0">
                <a:solidFill>
                  <a:srgbClr val="DCE6EB"/>
                </a:solidFill>
                <a:latin typeface="Calibri" pitchFamily="34" charset="0"/>
                <a:ea typeface="Calibri" pitchFamily="34" charset="-122"/>
                <a:cs typeface="Calibri" pitchFamily="34" charset="-120"/>
              </a:rPr>
              <a:t>Limitation — Seeding did not make our pipeline reproducible: identical configurations differ by ~1.57 pp per seed across runs. One architecture, one budget, one dataset.</a:t>
            </a:r>
            <a:endParaRPr lang="en-US" sz="1300" dirty="0"/>
          </a:p>
          <a:p>
            <a:pPr marL="342900" indent="-342900">
              <a:spcAft>
                <a:spcPts val="1500"/>
              </a:spcAft>
              <a:buSzPct val="100000"/>
              <a:buChar char="•"/>
            </a:pPr>
            <a:r>
              <a:rPr lang="en-US" sz="1300" dirty="0">
                <a:solidFill>
                  <a:srgbClr val="DCE6EB"/>
                </a:solidFill>
                <a:latin typeface="Calibri" pitchFamily="34" charset="0"/>
                <a:ea typeface="Calibri" pitchFamily="34" charset="-122"/>
                <a:cs typeface="Calibri" pitchFamily="34" charset="-120"/>
              </a:rPr>
              <a:t>We do not claim — Anything about fairness, robustness or real-world readiness (Roberts et al., 2021).</a:t>
            </a:r>
            <a:endParaRPr lang="en-US" sz="1300" dirty="0"/>
          </a:p>
        </p:txBody>
      </p:sp>
      <p:sp>
        <p:nvSpPr>
          <p:cNvPr id="6" name="Shape 4"/>
          <p:cNvSpPr/>
          <p:nvPr/>
        </p:nvSpPr>
        <p:spPr>
          <a:xfrm>
            <a:off x="8138160" y="1261872"/>
            <a:ext cx="3456432" cy="2377440"/>
          </a:xfrm>
          <a:prstGeom prst="roundRect">
            <a:avLst>
              <a:gd name="adj" fmla="val 1923"/>
            </a:avLst>
          </a:prstGeom>
          <a:solidFill>
            <a:srgbClr val="20323D"/>
          </a:solidFill>
          <a:ln/>
          <a:effectLst>
            <a:outerShdw blurRad="76200" dist="508" dir="5400000" algn="bl" rotWithShape="0">
              <a:srgbClr val="9AA8B0">
                <a:alpha val="15000"/>
              </a:srgbClr>
            </a:outerShdw>
          </a:effectLst>
        </p:spPr>
        <p:txBody>
          <a:bodyPr/>
          <a:lstStyle/>
          <a:p>
            <a:endParaRPr lang="en-US"/>
          </a:p>
        </p:txBody>
      </p:sp>
      <p:sp>
        <p:nvSpPr>
          <p:cNvPr id="7" name="Text 5"/>
          <p:cNvSpPr/>
          <p:nvPr/>
        </p:nvSpPr>
        <p:spPr>
          <a:xfrm>
            <a:off x="8357616" y="1426464"/>
            <a:ext cx="3017520" cy="274320"/>
          </a:xfrm>
          <a:prstGeom prst="rect">
            <a:avLst/>
          </a:prstGeom>
          <a:noFill/>
          <a:ln/>
        </p:spPr>
        <p:txBody>
          <a:bodyPr wrap="square" lIns="0" tIns="0" rIns="0" bIns="0" rtlCol="0" anchor="ctr"/>
          <a:lstStyle/>
          <a:p>
            <a:pPr marL="0" indent="0">
              <a:buNone/>
            </a:pPr>
            <a:r>
              <a:rPr lang="en-US" sz="1200" b="1" dirty="0">
                <a:solidFill>
                  <a:srgbClr val="C2410C"/>
                </a:solidFill>
                <a:latin typeface="Calibri" pitchFamily="34" charset="0"/>
                <a:ea typeface="Calibri" pitchFamily="34" charset="-122"/>
                <a:cs typeface="Calibri" pitchFamily="34" charset="-120"/>
              </a:rPr>
              <a:t>Next step</a:t>
            </a:r>
            <a:endParaRPr lang="en-US" sz="1200" dirty="0"/>
          </a:p>
        </p:txBody>
      </p:sp>
      <p:sp>
        <p:nvSpPr>
          <p:cNvPr id="8" name="Text 6"/>
          <p:cNvSpPr/>
          <p:nvPr/>
        </p:nvSpPr>
        <p:spPr>
          <a:xfrm>
            <a:off x="8357616" y="1755648"/>
            <a:ext cx="3017520" cy="1737360"/>
          </a:xfrm>
          <a:prstGeom prst="rect">
            <a:avLst/>
          </a:prstGeom>
          <a:noFill/>
          <a:ln/>
        </p:spPr>
        <p:txBody>
          <a:bodyPr wrap="square" lIns="0" tIns="0" rIns="0" bIns="0" rtlCol="0" anchor="ctr"/>
          <a:lstStyle/>
          <a:p>
            <a:pPr marL="0" indent="0">
              <a:buNone/>
            </a:pPr>
            <a:r>
              <a:rPr lang="en-US" sz="1150" dirty="0">
                <a:solidFill>
                  <a:srgbClr val="C9D8E0"/>
                </a:solidFill>
                <a:latin typeface="Calibri" pitchFamily="34" charset="0"/>
                <a:ea typeface="Calibri" pitchFamily="34" charset="-122"/>
                <a:cs typeface="Calibri" pitchFamily="34" charset="-120"/>
              </a:rPr>
              <a:t>Run a flip-only condition on the same ten seeds. It isolates rotation and zoom — this transforms the low-resolution literature flags as risky — from the one transform with a genuine domain invariance.</a:t>
            </a:r>
            <a:endParaRPr lang="en-US" sz="1150" dirty="0"/>
          </a:p>
          <a:p>
            <a:pPr marL="0" indent="0">
              <a:buNone/>
            </a:pPr>
            <a:endParaRPr lang="en-US" sz="1150" dirty="0"/>
          </a:p>
          <a:p>
            <a:pPr marL="0" indent="0">
              <a:buNone/>
            </a:pPr>
            <a:r>
              <a:rPr lang="en-US" sz="1150" dirty="0">
                <a:solidFill>
                  <a:srgbClr val="C9D8E0"/>
                </a:solidFill>
                <a:latin typeface="Calibri" pitchFamily="34" charset="0"/>
                <a:ea typeface="Calibri" pitchFamily="34" charset="-122"/>
                <a:cs typeface="Calibri" pitchFamily="34" charset="-120"/>
              </a:rPr>
              <a:t>Cost: about 80 seconds.</a:t>
            </a:r>
            <a:endParaRPr lang="en-US" sz="1150" dirty="0"/>
          </a:p>
        </p:txBody>
      </p:sp>
      <p:sp>
        <p:nvSpPr>
          <p:cNvPr id="9" name="Text 7"/>
          <p:cNvSpPr/>
          <p:nvPr/>
        </p:nvSpPr>
        <p:spPr>
          <a:xfrm>
            <a:off x="8138160" y="3858768"/>
            <a:ext cx="3456432" cy="256032"/>
          </a:xfrm>
          <a:prstGeom prst="rect">
            <a:avLst/>
          </a:prstGeom>
          <a:noFill/>
          <a:ln/>
        </p:spPr>
        <p:txBody>
          <a:bodyPr wrap="square" lIns="0" tIns="0" rIns="0" bIns="0" rtlCol="0" anchor="ctr"/>
          <a:lstStyle/>
          <a:p>
            <a:pPr marL="0" indent="0">
              <a:buNone/>
            </a:pPr>
            <a:r>
              <a:rPr lang="en-US" sz="1150" b="1" dirty="0">
                <a:solidFill>
                  <a:srgbClr val="C2410C"/>
                </a:solidFill>
                <a:latin typeface="Calibri" pitchFamily="34" charset="0"/>
                <a:ea typeface="Calibri" pitchFamily="34" charset="-122"/>
                <a:cs typeface="Calibri" pitchFamily="34" charset="-120"/>
              </a:rPr>
              <a:t>References</a:t>
            </a:r>
            <a:endParaRPr lang="en-US" sz="1150" dirty="0"/>
          </a:p>
        </p:txBody>
      </p:sp>
      <p:sp>
        <p:nvSpPr>
          <p:cNvPr id="10" name="Text 8"/>
          <p:cNvSpPr/>
          <p:nvPr/>
        </p:nvSpPr>
        <p:spPr>
          <a:xfrm>
            <a:off x="8138160" y="4151376"/>
            <a:ext cx="3456432" cy="1280160"/>
          </a:xfrm>
          <a:prstGeom prst="rect">
            <a:avLst/>
          </a:prstGeom>
          <a:noFill/>
          <a:ln/>
        </p:spPr>
        <p:txBody>
          <a:bodyPr wrap="square" lIns="0" tIns="0" rIns="0" bIns="0" rtlCol="0" anchor="ctr"/>
          <a:lstStyle/>
          <a:p>
            <a:pPr marL="0" indent="0">
              <a:buNone/>
            </a:pPr>
            <a:r>
              <a:rPr lang="en-US" sz="950" dirty="0">
                <a:solidFill>
                  <a:srgbClr val="6B7A83"/>
                </a:solidFill>
                <a:latin typeface="Calibri" pitchFamily="34" charset="0"/>
                <a:ea typeface="Calibri" pitchFamily="34" charset="-122"/>
                <a:cs typeface="Calibri" pitchFamily="34" charset="-120"/>
              </a:rPr>
              <a:t>Alomar et al. (2023) · Åkesson et al. (2024) · Coakley &amp; Gundersen (2026) · Lin et al. (2024) · Northcutt et al. (2021) · Ottoni et al. (2023) · Roberts et al. (2021) · Xu et al. (2023)</a:t>
            </a:r>
            <a:endParaRPr lang="en-US" sz="950" dirty="0"/>
          </a:p>
        </p:txBody>
      </p:sp>
      <p:sp>
        <p:nvSpPr>
          <p:cNvPr id="11" name="Text 9"/>
          <p:cNvSpPr/>
          <p:nvPr/>
        </p:nvSpPr>
        <p:spPr>
          <a:xfrm>
            <a:off x="566928" y="5321808"/>
            <a:ext cx="457200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Questions</a:t>
            </a:r>
            <a:endParaRPr lang="en-US" sz="2700" dirty="0"/>
          </a:p>
        </p:txBody>
      </p:sp>
      <p:sp>
        <p:nvSpPr>
          <p:cNvPr id="12" name="Text 10"/>
          <p:cNvSpPr/>
          <p:nvPr/>
        </p:nvSpPr>
        <p:spPr>
          <a:xfrm>
            <a:off x="8668512" y="6327648"/>
            <a:ext cx="2926080" cy="274320"/>
          </a:xfrm>
          <a:prstGeom prst="rect">
            <a:avLst/>
          </a:prstGeom>
          <a:noFill/>
          <a:ln/>
        </p:spPr>
        <p:txBody>
          <a:bodyPr wrap="square" lIns="0" tIns="0" rIns="0" bIns="0" rtlCol="0" anchor="ctr"/>
          <a:lstStyle/>
          <a:p>
            <a:pPr marL="0" indent="0" algn="r">
              <a:buNone/>
            </a:pPr>
            <a:r>
              <a:rPr lang="en-US" sz="1000" i="1" dirty="0">
                <a:solidFill>
                  <a:srgbClr val="6B7A83"/>
                </a:solidFill>
                <a:latin typeface="Calibri" pitchFamily="34" charset="0"/>
                <a:ea typeface="Calibri" pitchFamily="34" charset="-122"/>
                <a:cs typeface="Calibri" pitchFamily="34" charset="-120"/>
              </a:rPr>
              <a:t>Aditi Patel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2093</Words>
  <Application>Microsoft Office PowerPoint</Application>
  <PresentationFormat>Widescreen</PresentationFormat>
  <Paragraphs>189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basic image augmentation change CNN classification performance?</dc:title>
  <dc:subject>PptxGenJS Presentation</dc:subject>
  <dc:creator>Group 1</dc:creator>
  <cp:lastModifiedBy>Aditi Patel</cp:lastModifiedBy>
  <cp:revision>27</cp:revision>
  <dcterms:created xsi:type="dcterms:W3CDTF">2026-08-01T20:51:56Z</dcterms:created>
  <dcterms:modified xsi:type="dcterms:W3CDTF">2026-08-01T21:49:37Z</dcterms:modified>
</cp:coreProperties>
</file>